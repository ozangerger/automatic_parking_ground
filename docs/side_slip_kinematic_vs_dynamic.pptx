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15 minutes for the 13 content slides, one minute each; the two appendix slides are for questions. The deck answers one question: what changes when the plant gets a dynamic bicycle model instead of the kinematic one, and is it worth it. Everything numerical here comes from closed-form steady-state formulas with typical sedan parameters, because the dynamic model is not built yet. I will say so again where it matters.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cards. Left: today's model. The tires never slip because the model forces the wheels to roll along their heading. Middle: our actual maneuvers. At 1 m/s on a 5.3 m turn the lateral acceleration is 0.19 m/s squared and the rear tire slips 0.08 degrees, which is about 1.4 cm of sideways drift over a 10 m path. Right: a drive-by at 5 m/s on an 8 m turn, where the slip is 1.3 degrees and the drift is almost half a meter over 20 m. So the honest expectation is that S2 to S4 will not change visibly; the reason to build it is the stress scenario and testing what the ECU assumes. Assumed parameters: 1500 kg, centre of gravity 1.2 m behind the front axle, axle stiffnesses 80 and 90 kN per rad.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panels, one angle each, on the same car in a left turn; the angles are exaggerated as on a slippery surface. Rear tire slip: the rear wheel points along the body but the rear axle moves along a slightly different direction. Body side slip: the velocity of the centre of gravity against the body axis. Front tire slip: the wheel points along delta but moves along delta minus alpha f. The table gives the small-angle relations: a is the distance from the centre of gravity to the front axle, b to the rear axle, r the yaw rate. Left is positive.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Cause and effect. Tires generate force from their slip angle; the force changes how the body moves; the body side slip is a consequence. For our vehicle model the reference point is the rear axle, so the rear tire slip is literally the direction error of that point: the vehicle crabs by minus alpha r. The side slip at the centre of gravity adds a geometric term b times yaw rate over speed. With no slip at all that term is the whole story, which is the kinematic model on the next slides.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the plant does today. The two axle perpendiculars meet at the centre of rotation, which fixes yaw rate and radius from the steering angle alone. The rear axle radius is L over tan delta. There are no tire parameters at all, which is why the model is robust and cheap, and also why it can never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confusion. If you plot the body side slip of the kinematic bicycle you get a non-zero angle, nearly 10 degrees at 0.3 rad of steering, while both tire slip angles are exactly zero. That angle is geometry: the centre of gravity sits ahead of the rear axle, which does not slip sideways. When we log side slip from the dynamic model we will log the tire angles next to it for exactly this reason.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blocks in a loop. The slip angles come from the state: the velocity of each axle against its wheel direction. A linear tire turns slip into lateral force and clamps it at mu times the axle load. The body equations at the centre of gravity turn forces into lateral acceleration and yaw acceleration. The steering angle is the input. The longitudinal channel stays as it is: the actuator's acceleration command, no drivetrain.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useful way to see the relation: make the tires infinitely stiff and the slip disappears, leaving the kinematic constraints. With finite stiffness the slip angle is the force over the stiffness. In a steady turn, the lateral acceleration loads the axles in proportion to the weight split, which gives the two closed-form slips. The steering needs K times a_y on top of the geometric angle; with our assumed parameters K is 0.0030 radians per m/s squared, a mild understeer. These formulas are also the analytic test for the model later.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linear range the slip depends only on the lateral acceleration, so one plot covers all speeds and radii. The grey band is our parking envelope: at most one meter per second on a radius of at least 4.4 meters. The dot inside it is the 0.08 degrees from slide 2. The linear tire model is only trustworthy to about 5 degrees; the friction limit for dry asphalt, mu g, is near 8.8 m/s squared. The two cases on the right are the same numbers as slide 2, so you can check them against the curve. This is the quantitative reason S2 to S4 will not change much.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comparison in one table. The point to take away is the integration row and the standstill row: the kinematic model has no trouble at zero speed, the dynamic one needs a design decision there. That is the next slide. The cost of the dynamic model is about a day of reasoning in parameters but only a few hours of code; see the roadmap at the end.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real caveat, and the main design decision. The slip angle divides by the forward speed, so at low speed the tire forces change very fast: the fastest mode scales as the axle stiffnesses over mass times speed. An explicit RK4 step of 10 ms cannot integrate that below about 0.4 m/s, and our speed profile ends at 0.1 m/s with gear changes at standstill. Option A, blending with the kinematic model, works only if the blend speed is tiny. Option B gives each tire a lateral deflection state with a relaxation length; the force then comes from a spring of fixed stiffness, about 12 rad per second at any speed, including zero. It costs two states and one more parameter and behaves well at the gear changes, so I recommend it. A relaxation length of 0.4 m and a little damping are the assumed values.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changes on the ECU side without touching it. The EKF's steering update compares the gyro with v tan delta over L. With understeer the real yaw rate is a little lower, by the factor one over one plus K v squared over L. At parking speed that is 0.1 percent, far below the filter's assumed model sigma of 0.003 rad per second. At 5 m/s on an 8 m turn it is 0.017 rad per second, so the filter would start rejecting steering updates or absorb the difference into the gyro bias. That is a good stress test of the fusion and exactly the kind of mismatch the controller comparison also lacks. Wheel odometry is unaffected because the rear wheels roll along the body axis.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limits. Left: the physics we leave out, which is standard for a single-track model. The linear tire is fine to about 5 degrees and then we clamp; that is enough to show the saturation behaviour but not to reproduce a real tire. Right: the process caveats. The parameters are assumed, the numbers here are hand calculations, and PLAN.md currently says dynamic tire models are out of scope, so we amend the plan before building.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validation list doubles as the unit tests for the model. The two that matter most are the kinematic-limit test, which proves the dynamic model reduces to what we have, and the identity between the rear slip and the rear-axle velocity angle. The roadmap is four small steps of about three and a half hours in total, after a ten-minute plan amendment. Open decisions for the room: the purpose (parking realism or higher-speed stress), option A or B for low speed, whether the ECU stays kinematic for now, and whether typical sedan parameters are acceptable.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every figure on slides 2, 9, 11 and 12 follows from these values (tools/slides/side_slip_model.py).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94415" cy="1097280"/>
          </a:xfrm>
          <a:prstGeom prst="rect">
            <a:avLst/>
          </a:prstGeom>
          <a:noFill/>
        </p:spPr>
        <p:txBody>
          <a:bodyPr wrap="square" anchor="t" lIns="45720" rIns="45720" tIns="27432" bIns="27432">
            <a:spAutoFit/>
          </a:bodyPr>
          <a:lstStyle/>
          <a:p>
            <a:pPr>
              <a:spcAft>
                <a:spcPts val="0"/>
              </a:spcAft>
            </a:pPr>
            <a:r>
              <a:rPr sz="4800" b="1">
                <a:solidFill>
                  <a:srgbClr val="0B0B0B"/>
                </a:solidFill>
                <a:latin typeface="Calibri"/>
              </a:rPr>
              <a:t>Side slip and tire slip</a:t>
            </a:r>
          </a:p>
        </p:txBody>
      </p:sp>
      <p:sp>
        <p:nvSpPr>
          <p:cNvPr id="3" name="TextBox 2"/>
          <p:cNvSpPr txBox="1"/>
          <p:nvPr/>
        </p:nvSpPr>
        <p:spPr>
          <a:xfrm>
            <a:off x="548640" y="3200400"/>
            <a:ext cx="11094415" cy="1097280"/>
          </a:xfrm>
          <a:prstGeom prst="rect">
            <a:avLst/>
          </a:prstGeom>
          <a:noFill/>
        </p:spPr>
        <p:txBody>
          <a:bodyPr wrap="square" anchor="t" lIns="45720" rIns="45720" tIns="27432" bIns="27432">
            <a:spAutoFit/>
          </a:bodyPr>
          <a:lstStyle/>
          <a:p>
            <a:pPr>
              <a:spcAft>
                <a:spcPts val="0"/>
              </a:spcAft>
            </a:pPr>
            <a:r>
              <a:rPr sz="2400" b="0">
                <a:solidFill>
                  <a:srgbClr val="52514E"/>
                </a:solidFill>
                <a:latin typeface="Calibri"/>
              </a:rPr>
              <a:t>What the kinematic and the dynamic bicycle model say about them, and what adding the dynamic one to parking_sim would involve</a:t>
            </a:r>
          </a:p>
        </p:txBody>
      </p:sp>
      <p:sp>
        <p:nvSpPr>
          <p:cNvPr id="4" name="TextBox 3"/>
          <p:cNvSpPr txBox="1"/>
          <p:nvPr/>
        </p:nvSpPr>
        <p:spPr>
          <a:xfrm>
            <a:off x="548640" y="5120640"/>
            <a:ext cx="11094415" cy="731520"/>
          </a:xfrm>
          <a:prstGeom prst="rect">
            <a:avLst/>
          </a:prstGeom>
          <a:noFill/>
        </p:spPr>
        <p:txBody>
          <a:bodyPr wrap="square" anchor="t" lIns="45720" rIns="45720" tIns="27432" bIns="27432">
            <a:spAutoFit/>
          </a:bodyPr>
          <a:lstStyle/>
          <a:p>
            <a:pPr>
              <a:spcAft>
                <a:spcPts val="0"/>
              </a:spcAft>
            </a:pPr>
            <a:r>
              <a:rPr sz="1400" b="0">
                <a:solidFill>
                  <a:srgbClr val="52514E"/>
                </a:solidFill>
                <a:latin typeface="Calibri"/>
              </a:rPr>
              <a:t>Design discussion · numbers are steady-state hand calculations with assumed sedan parameters, not simulator output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51560"/>
          </a:xfrm>
          <a:prstGeom prst="rect">
            <a:avLst/>
          </a:prstGeom>
          <a:noFill/>
        </p:spPr>
        <p:txBody>
          <a:bodyPr wrap="square" anchor="t" lIns="45720" rIns="45720" tIns="27432" bIns="27432">
            <a:spAutoFit/>
          </a:bodyPr>
          <a:lstStyle/>
          <a:p>
            <a:pPr>
              <a:spcAft>
                <a:spcPts val="0"/>
              </a:spcAft>
            </a:pPr>
            <a:r>
              <a:rPr sz="2800" b="1">
                <a:solidFill>
                  <a:srgbClr val="0B0B0B"/>
                </a:solidFill>
                <a:latin typeface="Calibri"/>
              </a:rPr>
              <a:t>Bottom line: the kinematic model has no tire slip, the dynamic one computes it, and at parking speed it is tiny</a:t>
            </a:r>
          </a:p>
        </p:txBody>
      </p:sp>
      <p:sp>
        <p:nvSpPr>
          <p:cNvPr id="3" name="TextBox 2"/>
          <p:cNvSpPr txBox="1"/>
          <p:nvPr/>
        </p:nvSpPr>
        <p:spPr>
          <a:xfrm>
            <a:off x="548640" y="6446520"/>
            <a:ext cx="7315200" cy="274320"/>
          </a:xfrm>
          <a:prstGeom prst="rect">
            <a:avLst/>
          </a:prstGeom>
          <a:noFill/>
        </p:spPr>
        <p:txBody>
          <a:bodyPr wrap="square" anchor="t" lIns="45720" rIns="45720" tIns="27432" bIns="27432">
            <a:spAutoFit/>
          </a:bodyPr>
          <a:lstStyle/>
          <a:p>
            <a:pPr>
              <a:spcAft>
                <a:spcPts val="0"/>
              </a:spcAft>
            </a:pPr>
            <a:r>
              <a:rPr sz="1000" b="0">
                <a:solidFill>
                  <a:srgbClr val="52514E"/>
                </a:solidFill>
                <a:latin typeface="Calibri"/>
              </a:rPr>
              <a:t>parking_sim · side slip: kinematic and dynamic bicycle model</a:t>
            </a:r>
          </a:p>
        </p:txBody>
      </p:sp>
      <p:sp>
        <p:nvSpPr>
          <p:cNvPr id="4" name="TextBox 3"/>
          <p:cNvSpPr txBox="1"/>
          <p:nvPr/>
        </p:nvSpPr>
        <p:spPr>
          <a:xfrm>
            <a:off x="10728655" y="6446520"/>
            <a:ext cx="914400" cy="274320"/>
          </a:xfrm>
          <a:prstGeom prst="rect">
            <a:avLst/>
          </a:prstGeom>
          <a:noFill/>
        </p:spPr>
        <p:txBody>
          <a:bodyPr wrap="square" anchor="t" lIns="45720" rIns="45720" tIns="27432" bIns="27432">
            <a:spAutoFit/>
          </a:bodyPr>
          <a:lstStyle/>
          <a:p>
            <a:pPr algn="r">
              <a:spcAft>
                <a:spcPts val="0"/>
              </a:spcAft>
            </a:pPr>
            <a:r>
              <a:rPr sz="1000" b="0">
                <a:solidFill>
                  <a:srgbClr val="52514E"/>
                </a:solidFill>
                <a:latin typeface="Calibri"/>
              </a:rPr>
              <a:t>2</a:t>
            </a:r>
          </a:p>
        </p:txBody>
      </p:sp>
      <p:sp>
        <p:nvSpPr>
          <p:cNvPr id="5" name="Rectangle 4"/>
          <p:cNvSpPr/>
          <p:nvPr/>
        </p:nvSpPr>
        <p:spPr>
          <a:xfrm>
            <a:off x="548640" y="1325880"/>
            <a:ext cx="3515258" cy="3063240"/>
          </a:xfrm>
          <a:prstGeom prst="rect">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325880"/>
            <a:ext cx="82296" cy="306324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35607"/>
            <a:ext cx="3149498" cy="548640"/>
          </a:xfrm>
          <a:prstGeom prst="rect">
            <a:avLst/>
          </a:prstGeom>
          <a:noFill/>
        </p:spPr>
        <p:txBody>
          <a:bodyPr wrap="square" anchor="t" lIns="45720" rIns="45720" tIns="27432" bIns="27432">
            <a:spAutoFit/>
          </a:bodyPr>
          <a:lstStyle/>
          <a:p>
            <a:pPr>
              <a:spcAft>
                <a:spcPts val="0"/>
              </a:spcAft>
            </a:pPr>
            <a:r>
              <a:rPr sz="1800" b="1">
                <a:solidFill>
                  <a:srgbClr val="2A78D6"/>
                </a:solidFill>
                <a:latin typeface="Calibri"/>
              </a:rPr>
              <a:t>Kinematic (today)</a:t>
            </a:r>
          </a:p>
        </p:txBody>
      </p:sp>
      <p:sp>
        <p:nvSpPr>
          <p:cNvPr id="8" name="TextBox 7"/>
          <p:cNvSpPr txBox="1"/>
          <p:nvPr/>
        </p:nvSpPr>
        <p:spPr>
          <a:xfrm>
            <a:off x="777240" y="2011680"/>
            <a:ext cx="3149498" cy="2286000"/>
          </a:xfrm>
          <a:prstGeom prst="rect">
            <a:avLst/>
          </a:prstGeom>
          <a:noFill/>
        </p:spPr>
        <p:txBody>
          <a:bodyPr wrap="square" anchor="t" lIns="45720" rIns="45720" tIns="27432" bIns="27432">
            <a:spAutoFit/>
          </a:bodyPr>
          <a:lstStyle/>
          <a:p>
            <a:pPr>
              <a:spcAft>
                <a:spcPts val="600"/>
              </a:spcAft>
            </a:pPr>
            <a:r>
              <a:rPr sz="1600" b="0">
                <a:solidFill>
                  <a:srgbClr val="0B0B0B"/>
                </a:solidFill>
                <a:latin typeface="Calibri"/>
              </a:rPr>
              <a:t>α</a:t>
            </a:r>
            <a:r>
              <a:rPr sz="1600" b="0" baseline="-25000">
                <a:solidFill>
                  <a:srgbClr val="0B0B0B"/>
                </a:solidFill>
                <a:latin typeface="Calibri"/>
              </a:rPr>
              <a:t>f</a:t>
            </a:r>
            <a:r>
              <a:rPr sz="1600" b="0">
                <a:solidFill>
                  <a:srgbClr val="0B0B0B"/>
                </a:solidFill>
                <a:latin typeface="Calibri"/>
              </a:rPr>
              <a:t> = α</a:t>
            </a:r>
            <a:r>
              <a:rPr sz="1600" b="0" baseline="-25000">
                <a:solidFill>
                  <a:srgbClr val="0B0B0B"/>
                </a:solidFill>
                <a:latin typeface="Calibri"/>
              </a:rPr>
              <a:t>r</a:t>
            </a:r>
            <a:r>
              <a:rPr sz="1600" b="0">
                <a:solidFill>
                  <a:srgbClr val="0B0B0B"/>
                </a:solidFill>
                <a:latin typeface="Calibri"/>
              </a:rPr>
              <a:t> = 0 by construction.</a:t>
            </a:r>
          </a:p>
          <a:p>
            <a:pPr>
              <a:spcAft>
                <a:spcPts val="600"/>
              </a:spcAft>
            </a:pPr>
            <a:r>
              <a:rPr sz="1600" b="0">
                <a:solidFill>
                  <a:srgbClr val="0B0B0B"/>
                </a:solidFill>
                <a:latin typeface="Calibri"/>
              </a:rPr>
              <a:t>Wheels roll without slip; the body side slip β at the CG is purely geometric.</a:t>
            </a:r>
          </a:p>
          <a:p>
            <a:pPr>
              <a:spcAft>
                <a:spcPts val="600"/>
              </a:spcAft>
            </a:pPr>
            <a:r>
              <a:rPr sz="1600" b="0">
                <a:solidFill>
                  <a:srgbClr val="0B0B0B"/>
                </a:solidFill>
                <a:latin typeface="Calibri"/>
              </a:rPr>
              <a:t>No forces, no grip limit.</a:t>
            </a:r>
          </a:p>
        </p:txBody>
      </p:sp>
      <p:sp>
        <p:nvSpPr>
          <p:cNvPr id="9" name="Rectangle 8"/>
          <p:cNvSpPr/>
          <p:nvPr/>
        </p:nvSpPr>
        <p:spPr>
          <a:xfrm>
            <a:off x="4338218" y="1325880"/>
            <a:ext cx="3515258" cy="3063240"/>
          </a:xfrm>
          <a:prstGeom prst="rect">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38218" y="1325880"/>
            <a:ext cx="82296" cy="3063240"/>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66818" y="1435607"/>
            <a:ext cx="3149498" cy="548640"/>
          </a:xfrm>
          <a:prstGeom prst="rect">
            <a:avLst/>
          </a:prstGeom>
          <a:noFill/>
        </p:spPr>
        <p:txBody>
          <a:bodyPr wrap="square" anchor="t" lIns="45720" rIns="45720" tIns="27432" bIns="27432">
            <a:spAutoFit/>
          </a:bodyPr>
          <a:lstStyle/>
          <a:p>
            <a:pPr>
              <a:spcAft>
                <a:spcPts val="0"/>
              </a:spcAft>
            </a:pPr>
            <a:r>
              <a:rPr sz="1800" b="1">
                <a:solidFill>
                  <a:srgbClr val="EB6834"/>
                </a:solidFill>
                <a:latin typeface="Calibri"/>
              </a:rPr>
              <a:t>Parking: 1 m/s, R = 5.3 m</a:t>
            </a:r>
          </a:p>
        </p:txBody>
      </p:sp>
      <p:sp>
        <p:nvSpPr>
          <p:cNvPr id="12" name="TextBox 11"/>
          <p:cNvSpPr txBox="1"/>
          <p:nvPr/>
        </p:nvSpPr>
        <p:spPr>
          <a:xfrm>
            <a:off x="4566818" y="2011680"/>
            <a:ext cx="3149498" cy="2286000"/>
          </a:xfrm>
          <a:prstGeom prst="rect">
            <a:avLst/>
          </a:prstGeom>
          <a:noFill/>
        </p:spPr>
        <p:txBody>
          <a:bodyPr wrap="square" anchor="t" lIns="45720" rIns="45720" tIns="27432" bIns="27432">
            <a:spAutoFit/>
          </a:bodyPr>
          <a:lstStyle/>
          <a:p>
            <a:pPr>
              <a:spcAft>
                <a:spcPts val="600"/>
              </a:spcAft>
            </a:pPr>
            <a:r>
              <a:rPr sz="1600" b="0">
                <a:solidFill>
                  <a:srgbClr val="0B0B0B"/>
                </a:solidFill>
                <a:latin typeface="Calibri"/>
              </a:rPr>
              <a:t>α</a:t>
            </a:r>
            <a:r>
              <a:rPr sz="1600" b="0" baseline="-25000">
                <a:solidFill>
                  <a:srgbClr val="0B0B0B"/>
                </a:solidFill>
                <a:latin typeface="Calibri"/>
              </a:rPr>
              <a:t>r</a:t>
            </a:r>
            <a:r>
              <a:rPr sz="1600" b="0">
                <a:solidFill>
                  <a:srgbClr val="0B0B0B"/>
                </a:solidFill>
                <a:latin typeface="Calibri"/>
              </a:rPr>
              <a:t> = 0.08°, α</a:t>
            </a:r>
            <a:r>
              <a:rPr sz="1600" b="0" baseline="-25000">
                <a:solidFill>
                  <a:srgbClr val="0B0B0B"/>
                </a:solidFill>
                <a:latin typeface="Calibri"/>
              </a:rPr>
              <a:t>f</a:t>
            </a:r>
            <a:r>
              <a:rPr sz="1600" b="0">
                <a:solidFill>
                  <a:srgbClr val="0B0B0B"/>
                </a:solidFill>
                <a:latin typeface="Calibri"/>
              </a:rPr>
              <a:t> = 0.11°</a:t>
            </a:r>
          </a:p>
          <a:p>
            <a:pPr>
              <a:spcAft>
                <a:spcPts val="600"/>
              </a:spcAft>
            </a:pPr>
            <a:r>
              <a:rPr sz="1600" b="0">
                <a:solidFill>
                  <a:srgbClr val="0B0B0B"/>
                </a:solidFill>
                <a:latin typeface="Calibri"/>
              </a:rPr>
              <a:t>Rear-axle crab ≈ 1.4 cm per 10 m.</a:t>
            </a:r>
          </a:p>
          <a:p>
            <a:pPr>
              <a:spcAft>
                <a:spcPts val="600"/>
              </a:spcAft>
            </a:pPr>
            <a:r>
              <a:rPr sz="1600" b="0">
                <a:solidFill>
                  <a:srgbClr val="0B0B0B"/>
                </a:solidFill>
                <a:latin typeface="Calibri"/>
              </a:rPr>
              <a:t>Extra steering 0.03°; yaw rate off by 0.1 %.</a:t>
            </a:r>
          </a:p>
        </p:txBody>
      </p:sp>
      <p:sp>
        <p:nvSpPr>
          <p:cNvPr id="13" name="Rectangle 12"/>
          <p:cNvSpPr/>
          <p:nvPr/>
        </p:nvSpPr>
        <p:spPr>
          <a:xfrm>
            <a:off x="8127796" y="1325880"/>
            <a:ext cx="3515258" cy="3063240"/>
          </a:xfrm>
          <a:prstGeom prst="rect">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27796" y="1325880"/>
            <a:ext cx="82296" cy="3063240"/>
          </a:xfrm>
          <a:prstGeom prst="rect">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396" y="1435607"/>
            <a:ext cx="3149498" cy="548640"/>
          </a:xfrm>
          <a:prstGeom prst="rect">
            <a:avLst/>
          </a:prstGeom>
          <a:noFill/>
        </p:spPr>
        <p:txBody>
          <a:bodyPr wrap="square" anchor="t" lIns="45720" rIns="45720" tIns="27432" bIns="27432">
            <a:spAutoFit/>
          </a:bodyPr>
          <a:lstStyle/>
          <a:p>
            <a:pPr>
              <a:spcAft>
                <a:spcPts val="0"/>
              </a:spcAft>
            </a:pPr>
            <a:r>
              <a:rPr sz="1800" b="1">
                <a:solidFill>
                  <a:srgbClr val="1BAF7A"/>
                </a:solidFill>
                <a:latin typeface="Calibri"/>
              </a:rPr>
              <a:t>Drive-by: 5 m/s, R = 8 m</a:t>
            </a:r>
          </a:p>
        </p:txBody>
      </p:sp>
      <p:sp>
        <p:nvSpPr>
          <p:cNvPr id="16" name="TextBox 15"/>
          <p:cNvSpPr txBox="1"/>
          <p:nvPr/>
        </p:nvSpPr>
        <p:spPr>
          <a:xfrm>
            <a:off x="8356396" y="2011680"/>
            <a:ext cx="3149498" cy="2286000"/>
          </a:xfrm>
          <a:prstGeom prst="rect">
            <a:avLst/>
          </a:prstGeom>
          <a:noFill/>
        </p:spPr>
        <p:txBody>
          <a:bodyPr wrap="square" anchor="t" lIns="45720" rIns="45720" tIns="27432" bIns="27432">
            <a:spAutoFit/>
          </a:bodyPr>
          <a:lstStyle/>
          <a:p>
            <a:pPr>
              <a:spcAft>
                <a:spcPts val="600"/>
              </a:spcAft>
            </a:pPr>
            <a:r>
              <a:rPr sz="1600" b="0">
                <a:solidFill>
                  <a:srgbClr val="0B0B0B"/>
                </a:solidFill>
                <a:latin typeface="Calibri"/>
              </a:rPr>
              <a:t>α</a:t>
            </a:r>
            <a:r>
              <a:rPr sz="1600" b="0" baseline="-25000">
                <a:solidFill>
                  <a:srgbClr val="0B0B0B"/>
                </a:solidFill>
                <a:latin typeface="Calibri"/>
              </a:rPr>
              <a:t>r</a:t>
            </a:r>
            <a:r>
              <a:rPr sz="1600" b="0">
                <a:solidFill>
                  <a:srgbClr val="0B0B0B"/>
                </a:solidFill>
                <a:latin typeface="Calibri"/>
              </a:rPr>
              <a:t> = 1.3°, α</a:t>
            </a:r>
            <a:r>
              <a:rPr sz="1600" b="0" baseline="-25000">
                <a:solidFill>
                  <a:srgbClr val="0B0B0B"/>
                </a:solidFill>
                <a:latin typeface="Calibri"/>
              </a:rPr>
              <a:t>f</a:t>
            </a:r>
            <a:r>
              <a:rPr sz="1600" b="0">
                <a:solidFill>
                  <a:srgbClr val="0B0B0B"/>
                </a:solidFill>
                <a:latin typeface="Calibri"/>
              </a:rPr>
              <a:t> = 1.9°</a:t>
            </a:r>
          </a:p>
          <a:p>
            <a:pPr>
              <a:spcAft>
                <a:spcPts val="600"/>
              </a:spcAft>
            </a:pPr>
            <a:r>
              <a:rPr sz="1600" b="0">
                <a:solidFill>
                  <a:srgbClr val="0B0B0B"/>
                </a:solidFill>
                <a:latin typeface="Calibri"/>
              </a:rPr>
              <a:t>Rear-axle crab ≈ 0.46 m per 20 m.</a:t>
            </a:r>
          </a:p>
          <a:p>
            <a:pPr>
              <a:spcAft>
                <a:spcPts val="600"/>
              </a:spcAft>
            </a:pPr>
            <a:r>
              <a:rPr sz="1600" b="0">
                <a:solidFill>
                  <a:srgbClr val="0B0B0B"/>
                </a:solidFill>
                <a:latin typeface="Calibri"/>
              </a:rPr>
              <a:t>Extra steering 0.5°; yaw rate off by 2.7 % (0.017 rad/s).</a:t>
            </a:r>
          </a:p>
        </p:txBody>
      </p:sp>
      <p:sp>
        <p:nvSpPr>
          <p:cNvPr id="17" name="TextBox 16"/>
          <p:cNvSpPr txBox="1"/>
          <p:nvPr/>
        </p:nvSpPr>
        <p:spPr>
          <a:xfrm>
            <a:off x="548640" y="4617720"/>
            <a:ext cx="11094415" cy="1554480"/>
          </a:xfrm>
          <a:prstGeom prst="rect">
            <a:avLst/>
          </a:prstGeom>
          <a:noFill/>
        </p:spPr>
        <p:txBody>
          <a:bodyPr wrap="square" anchor="t" lIns="45720" rIns="45720" tIns="27432" bIns="27432">
            <a:spAutoFit/>
          </a:bodyPr>
          <a:lstStyle/>
          <a:p>
            <a:pPr marL="228600" indent="-228600">
              <a:spcAft>
                <a:spcPts val="800"/>
              </a:spcAft>
              <a:buChar char="•"/>
            </a:pPr>
            <a:r>
              <a:rPr sz="2000" b="0">
                <a:solidFill>
                  <a:srgbClr val="0B0B0B"/>
                </a:solidFill>
                <a:latin typeface="Calibri"/>
              </a:rPr>
              <a:t>S2–S4 should barely change on a dynamic plant (about 1 cm).</a:t>
            </a:r>
          </a:p>
          <a:p>
            <a:pPr marL="228600" indent="-228600">
              <a:spcAft>
                <a:spcPts val="800"/>
              </a:spcAft>
              <a:buChar char="•"/>
            </a:pPr>
            <a:r>
              <a:rPr sz="2000" b="0">
                <a:solidFill>
                  <a:srgbClr val="0B0B0B"/>
                </a:solidFill>
                <a:latin typeface="Calibri"/>
              </a:rPr>
              <a:t>The value is in higher-speed and low-friction stress scenarios, and in testing the ECU's kinematic assumptions (EKF steering update, controllers).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51560"/>
          </a:xfrm>
          <a:prstGeom prst="rect">
            <a:avLst/>
          </a:prstGeom>
          <a:noFill/>
        </p:spPr>
        <p:txBody>
          <a:bodyPr wrap="square" anchor="t" lIns="45720" rIns="45720" tIns="27432" bIns="27432">
            <a:spAutoFit/>
          </a:bodyPr>
          <a:lstStyle/>
          <a:p>
            <a:pPr>
              <a:spcAft>
                <a:spcPts val="0"/>
              </a:spcAft>
            </a:pPr>
            <a:r>
              <a:rPr sz="2800" b="1">
                <a:solidFill>
                  <a:srgbClr val="0B0B0B"/>
                </a:solidFill>
                <a:latin typeface="Calibri"/>
              </a:rPr>
              <a:t>Body side slip and the tire slip angles are different angles</a:t>
            </a:r>
          </a:p>
        </p:txBody>
      </p:sp>
      <p:sp>
        <p:nvSpPr>
          <p:cNvPr id="3" name="TextBox 2"/>
          <p:cNvSpPr txBox="1"/>
          <p:nvPr/>
        </p:nvSpPr>
        <p:spPr>
          <a:xfrm>
            <a:off x="548640" y="6446520"/>
            <a:ext cx="7315200" cy="274320"/>
          </a:xfrm>
          <a:prstGeom prst="rect">
            <a:avLst/>
          </a:prstGeom>
          <a:noFill/>
        </p:spPr>
        <p:txBody>
          <a:bodyPr wrap="square" anchor="t" lIns="45720" rIns="45720" tIns="27432" bIns="27432">
            <a:spAutoFit/>
          </a:bodyPr>
          <a:lstStyle/>
          <a:p>
            <a:pPr>
              <a:spcAft>
                <a:spcPts val="0"/>
              </a:spcAft>
            </a:pPr>
            <a:r>
              <a:rPr sz="1000" b="0">
                <a:solidFill>
                  <a:srgbClr val="52514E"/>
                </a:solidFill>
                <a:latin typeface="Calibri"/>
              </a:rPr>
              <a:t>parking_sim · side slip: kinematic and dynamic bicycle model</a:t>
            </a:r>
          </a:p>
        </p:txBody>
      </p:sp>
      <p:sp>
        <p:nvSpPr>
          <p:cNvPr id="4" name="TextBox 3"/>
          <p:cNvSpPr txBox="1"/>
          <p:nvPr/>
        </p:nvSpPr>
        <p:spPr>
          <a:xfrm>
            <a:off x="10728655" y="6446520"/>
            <a:ext cx="914400" cy="274320"/>
          </a:xfrm>
          <a:prstGeom prst="rect">
            <a:avLst/>
          </a:prstGeom>
          <a:noFill/>
        </p:spPr>
        <p:txBody>
          <a:bodyPr wrap="square" anchor="t" lIns="45720" rIns="45720" tIns="27432" bIns="27432">
            <a:spAutoFit/>
          </a:bodyPr>
          <a:lstStyle/>
          <a:p>
            <a:pPr algn="r">
              <a:spcAft>
                <a:spcPts val="0"/>
              </a:spcAft>
            </a:pPr>
            <a:r>
              <a:rPr sz="1000" b="0">
                <a:solidFill>
                  <a:srgbClr val="52514E"/>
                </a:solidFill>
                <a:latin typeface="Calibri"/>
              </a:rPr>
              <a:t>3</a:t>
            </a:r>
          </a:p>
        </p:txBody>
      </p:sp>
      <p:pic>
        <p:nvPicPr>
          <p:cNvPr id="5" name="Picture 4" descr="angles.png"/>
          <p:cNvPicPr>
            <a:picLocks noChangeAspect="1"/>
          </p:cNvPicPr>
          <p:nvPr/>
        </p:nvPicPr>
        <p:blipFill>
          <a:blip r:embed="rId2"/>
          <a:stretch>
            <a:fillRect/>
          </a:stretch>
        </p:blipFill>
        <p:spPr>
          <a:xfrm>
            <a:off x="548640" y="1234439"/>
            <a:ext cx="11094415" cy="2063117"/>
          </a:xfrm>
          <a:prstGeom prst="rect">
            <a:avLst/>
          </a:prstGeom>
        </p:spPr>
      </p:pic>
      <p:graphicFrame>
        <p:nvGraphicFramePr>
          <p:cNvPr id="6" name="Table 5"/>
          <p:cNvGraphicFramePr>
            <a:graphicFrameLocks noGrp="1"/>
          </p:cNvGraphicFramePr>
          <p:nvPr/>
        </p:nvGraphicFramePr>
        <p:xfrm>
          <a:off x="548640" y="3434717"/>
          <a:ext cx="11091672" cy="2292096"/>
        </p:xfrm>
        <a:graphic>
          <a:graphicData uri="http://schemas.openxmlformats.org/drawingml/2006/table">
            <a:tbl>
              <a:tblPr firstRow="1">
                <a:tableStyleId>{5C22544A-7EE6-4342-B048-85BDC9FD1C3A}</a:tableStyleId>
              </a:tblPr>
              <a:tblGrid>
                <a:gridCol w="2377440"/>
                <a:gridCol w="4937760"/>
                <a:gridCol w="3776472"/>
              </a:tblGrid>
              <a:tr h="573024">
                <a:tc>
                  <a:txBody>
                    <a:bodyPr wrap="square"/>
                    <a:lstStyle/>
                    <a:p>
                      <a:r>
                        <a:rPr sz="1400" b="1">
                          <a:solidFill>
                            <a:srgbClr val="FFFFFF"/>
                          </a:solidFill>
                          <a:latin typeface="Calibri"/>
                        </a:rPr>
                        <a:t>Angle</a:t>
                      </a:r>
                    </a:p>
                  </a:txBody>
                  <a:tcPr marL="73152" marR="73152" marT="36576" marB="36576" anchor="ctr">
                    <a:solidFill>
                      <a:srgbClr val="2B2A28"/>
                    </a:solidFill>
                    <a:lnL w="0">
                      <a:noFill/>
                    </a:lnL>
                    <a:lnR w="0">
                      <a:noFill/>
                    </a:lnR>
                    <a:lnT w="0">
                      <a:noFill/>
                    </a:lnT>
                    <a:lnB w="9525">
                      <a:solidFill>
                        <a:srgbClr val="E4E3DF"/>
                      </a:solidFill>
                    </a:lnB>
                  </a:tcPr>
                </a:tc>
                <a:tc>
                  <a:txBody>
                    <a:bodyPr wrap="square"/>
                    <a:lstStyle/>
                    <a:p>
                      <a:r>
                        <a:rPr sz="1400" b="1">
                          <a:solidFill>
                            <a:srgbClr val="FFFFFF"/>
                          </a:solidFill>
                          <a:latin typeface="Calibri"/>
                        </a:rPr>
                        <a:t>Between …</a:t>
                      </a:r>
                    </a:p>
                  </a:txBody>
                  <a:tcPr marL="73152" marR="73152" marT="36576" marB="36576" anchor="ctr">
                    <a:solidFill>
                      <a:srgbClr val="2B2A28"/>
                    </a:solidFill>
                    <a:lnL w="0">
                      <a:noFill/>
                    </a:lnL>
                    <a:lnR w="0">
                      <a:noFill/>
                    </a:lnR>
                    <a:lnT w="0">
                      <a:noFill/>
                    </a:lnT>
                    <a:lnB w="9525">
                      <a:solidFill>
                        <a:srgbClr val="E4E3DF"/>
                      </a:solidFill>
                    </a:lnB>
                  </a:tcPr>
                </a:tc>
                <a:tc>
                  <a:txBody>
                    <a:bodyPr wrap="square"/>
                    <a:lstStyle/>
                    <a:p>
                      <a:r>
                        <a:rPr sz="1400" b="1">
                          <a:solidFill>
                            <a:srgbClr val="FFFFFF"/>
                          </a:solidFill>
                          <a:latin typeface="Calibri"/>
                        </a:rPr>
                        <a:t>Small-angle form (forward, left positive)</a:t>
                      </a:r>
                    </a:p>
                  </a:txBody>
                  <a:tcPr marL="73152" marR="73152" marT="36576" marB="36576" anchor="ctr">
                    <a:solidFill>
                      <a:srgbClr val="2B2A28"/>
                    </a:solidFill>
                    <a:lnL w="0">
                      <a:noFill/>
                    </a:lnL>
                    <a:lnR w="0">
                      <a:noFill/>
                    </a:lnR>
                    <a:lnT w="0">
                      <a:noFill/>
                    </a:lnT>
                    <a:lnB w="9525">
                      <a:solidFill>
                        <a:srgbClr val="E4E3DF"/>
                      </a:solidFill>
                    </a:lnB>
                  </a:tcPr>
                </a:tc>
              </a:tr>
              <a:tr h="573024">
                <a:tc>
                  <a:txBody>
                    <a:bodyPr wrap="square"/>
                    <a:lstStyle/>
                    <a:p>
                      <a:r>
                        <a:rPr sz="1400" b="1">
                          <a:solidFill>
                            <a:srgbClr val="0B0B0B"/>
                          </a:solidFill>
                          <a:latin typeface="Calibri"/>
                        </a:rPr>
                        <a:t>β  body side slip</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the body x-axis and the velocity of a point (the CG here)</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β ≈ v</a:t>
                      </a:r>
                      <a:r>
                        <a:rPr sz="1400" b="0" baseline="-25000">
                          <a:solidFill>
                            <a:srgbClr val="0B0B0B"/>
                          </a:solidFill>
                          <a:latin typeface="Calibri"/>
                        </a:rPr>
                        <a:t>y</a:t>
                      </a:r>
                      <a:r>
                        <a:rPr sz="1400" b="0">
                          <a:solidFill>
                            <a:srgbClr val="0B0B0B"/>
                          </a:solidFill>
                          <a:latin typeface="Calibri"/>
                        </a:rPr>
                        <a:t> / v</a:t>
                      </a:r>
                      <a:r>
                        <a:rPr sz="1400" b="0" baseline="-25000">
                          <a:solidFill>
                            <a:srgbClr val="0B0B0B"/>
                          </a:solidFill>
                          <a:latin typeface="Calibri"/>
                        </a:rPr>
                        <a:t>x</a:t>
                      </a:r>
                    </a:p>
                  </a:txBody>
                  <a:tcPr marL="73152" marR="73152" marT="36576" marB="36576" anchor="ctr">
                    <a:solidFill>
                      <a:srgbClr val="FFFFFF"/>
                    </a:solidFill>
                    <a:lnL w="0">
                      <a:noFill/>
                    </a:lnL>
                    <a:lnR w="0">
                      <a:noFill/>
                    </a:lnR>
                    <a:lnT w="0">
                      <a:noFill/>
                    </a:lnT>
                    <a:lnB w="9525">
                      <a:solidFill>
                        <a:srgbClr val="E4E3DF"/>
                      </a:solidFill>
                    </a:lnB>
                  </a:tcPr>
                </a:tc>
              </a:tr>
              <a:tr h="573024">
                <a:tc>
                  <a:txBody>
                    <a:bodyPr wrap="square"/>
                    <a:lstStyle/>
                    <a:p>
                      <a:r>
                        <a:rPr sz="1400" b="1">
                          <a:solidFill>
                            <a:srgbClr val="0B0B0B"/>
                          </a:solidFill>
                          <a:latin typeface="Calibri"/>
                        </a:rPr>
                        <a:t>α</a:t>
                      </a:r>
                      <a:r>
                        <a:rPr sz="1400" b="1" baseline="-25000">
                          <a:solidFill>
                            <a:srgbClr val="0B0B0B"/>
                          </a:solidFill>
                          <a:latin typeface="Calibri"/>
                        </a:rPr>
                        <a:t>f</a:t>
                      </a:r>
                      <a:r>
                        <a:rPr sz="1400" b="1">
                          <a:solidFill>
                            <a:srgbClr val="0B0B0B"/>
                          </a:solidFill>
                          <a:latin typeface="Calibri"/>
                        </a:rPr>
                        <a:t>  front tire slip</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the front wheel heading and the velocity of its contact patch</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α</a:t>
                      </a:r>
                      <a:r>
                        <a:rPr sz="1400" b="0" baseline="-25000">
                          <a:solidFill>
                            <a:srgbClr val="0B0B0B"/>
                          </a:solidFill>
                          <a:latin typeface="Calibri"/>
                        </a:rPr>
                        <a:t>f</a:t>
                      </a:r>
                      <a:r>
                        <a:rPr sz="1400" b="0">
                          <a:solidFill>
                            <a:srgbClr val="0B0B0B"/>
                          </a:solidFill>
                          <a:latin typeface="Calibri"/>
                        </a:rPr>
                        <a:t> ≈ δ − β − a·r / v</a:t>
                      </a:r>
                      <a:r>
                        <a:rPr sz="1400" b="0" baseline="-25000">
                          <a:solidFill>
                            <a:srgbClr val="0B0B0B"/>
                          </a:solidFill>
                          <a:latin typeface="Calibri"/>
                        </a:rPr>
                        <a:t>x</a:t>
                      </a:r>
                    </a:p>
                  </a:txBody>
                  <a:tcPr marL="73152" marR="73152" marT="36576" marB="36576" anchor="ctr">
                    <a:solidFill>
                      <a:srgbClr val="FFFFFF"/>
                    </a:solidFill>
                    <a:lnL w="0">
                      <a:noFill/>
                    </a:lnL>
                    <a:lnR w="0">
                      <a:noFill/>
                    </a:lnR>
                    <a:lnT w="0">
                      <a:noFill/>
                    </a:lnT>
                    <a:lnB w="9525">
                      <a:solidFill>
                        <a:srgbClr val="E4E3DF"/>
                      </a:solidFill>
                    </a:lnB>
                  </a:tcPr>
                </a:tc>
              </a:tr>
              <a:tr h="573024">
                <a:tc>
                  <a:txBody>
                    <a:bodyPr wrap="square"/>
                    <a:lstStyle/>
                    <a:p>
                      <a:r>
                        <a:rPr sz="1400" b="1">
                          <a:solidFill>
                            <a:srgbClr val="0B0B0B"/>
                          </a:solidFill>
                          <a:latin typeface="Calibri"/>
                        </a:rPr>
                        <a:t>α</a:t>
                      </a:r>
                      <a:r>
                        <a:rPr sz="1400" b="1" baseline="-25000">
                          <a:solidFill>
                            <a:srgbClr val="0B0B0B"/>
                          </a:solidFill>
                          <a:latin typeface="Calibri"/>
                        </a:rPr>
                        <a:t>r</a:t>
                      </a:r>
                      <a:r>
                        <a:rPr sz="1400" b="1">
                          <a:solidFill>
                            <a:srgbClr val="0B0B0B"/>
                          </a:solidFill>
                          <a:latin typeface="Calibri"/>
                        </a:rPr>
                        <a:t>  rear tire slip</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the rear wheel heading (the body x-axis) and the velocity of its contact patch</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α</a:t>
                      </a:r>
                      <a:r>
                        <a:rPr sz="1400" b="0" baseline="-25000">
                          <a:solidFill>
                            <a:srgbClr val="0B0B0B"/>
                          </a:solidFill>
                          <a:latin typeface="Calibri"/>
                        </a:rPr>
                        <a:t>r</a:t>
                      </a:r>
                      <a:r>
                        <a:rPr sz="1400" b="0">
                          <a:solidFill>
                            <a:srgbClr val="0B0B0B"/>
                          </a:solidFill>
                          <a:latin typeface="Calibri"/>
                        </a:rPr>
                        <a:t> ≈ −β + b·r / v</a:t>
                      </a:r>
                      <a:r>
                        <a:rPr sz="1400" b="0" baseline="-25000">
                          <a:solidFill>
                            <a:srgbClr val="0B0B0B"/>
                          </a:solidFill>
                          <a:latin typeface="Calibri"/>
                        </a:rPr>
                        <a:t>x</a:t>
                      </a:r>
                    </a:p>
                  </a:txBody>
                  <a:tcPr marL="73152" marR="73152" marT="36576" marB="36576" anchor="ctr">
                    <a:solidFill>
                      <a:srgbClr val="FFFFFF"/>
                    </a:solidFill>
                    <a:lnL w="0">
                      <a:noFill/>
                    </a:lnL>
                    <a:lnR w="0">
                      <a:noFill/>
                    </a:lnR>
                    <a:lnT w="0">
                      <a:noFill/>
                    </a:lnT>
                    <a:lnB w="9525">
                      <a:solidFill>
                        <a:srgbClr val="E4E3DF"/>
                      </a:solidFill>
                    </a:lnB>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51560"/>
          </a:xfrm>
          <a:prstGeom prst="rect">
            <a:avLst/>
          </a:prstGeom>
          <a:noFill/>
        </p:spPr>
        <p:txBody>
          <a:bodyPr wrap="square" anchor="t" lIns="45720" rIns="45720" tIns="27432" bIns="27432">
            <a:spAutoFit/>
          </a:bodyPr>
          <a:lstStyle/>
          <a:p>
            <a:pPr>
              <a:spcAft>
                <a:spcPts val="0"/>
              </a:spcAft>
            </a:pPr>
            <a:r>
              <a:rPr sz="2800" b="1">
                <a:solidFill>
                  <a:srgbClr val="0B0B0B"/>
                </a:solidFill>
                <a:latin typeface="Calibri"/>
              </a:rPr>
              <a:t>Tire slip is the cause of the lateral force; body side slip is the result</a:t>
            </a:r>
          </a:p>
        </p:txBody>
      </p:sp>
      <p:sp>
        <p:nvSpPr>
          <p:cNvPr id="3" name="TextBox 2"/>
          <p:cNvSpPr txBox="1"/>
          <p:nvPr/>
        </p:nvSpPr>
        <p:spPr>
          <a:xfrm>
            <a:off x="548640" y="6446520"/>
            <a:ext cx="7315200" cy="274320"/>
          </a:xfrm>
          <a:prstGeom prst="rect">
            <a:avLst/>
          </a:prstGeom>
          <a:noFill/>
        </p:spPr>
        <p:txBody>
          <a:bodyPr wrap="square" anchor="t" lIns="45720" rIns="45720" tIns="27432" bIns="27432">
            <a:spAutoFit/>
          </a:bodyPr>
          <a:lstStyle/>
          <a:p>
            <a:pPr>
              <a:spcAft>
                <a:spcPts val="0"/>
              </a:spcAft>
            </a:pPr>
            <a:r>
              <a:rPr sz="1000" b="0">
                <a:solidFill>
                  <a:srgbClr val="52514E"/>
                </a:solidFill>
                <a:latin typeface="Calibri"/>
              </a:rPr>
              <a:t>parking_sim · side slip: kinematic and dynamic bicycle model</a:t>
            </a:r>
          </a:p>
        </p:txBody>
      </p:sp>
      <p:sp>
        <p:nvSpPr>
          <p:cNvPr id="4" name="TextBox 3"/>
          <p:cNvSpPr txBox="1"/>
          <p:nvPr/>
        </p:nvSpPr>
        <p:spPr>
          <a:xfrm>
            <a:off x="10728655" y="6446520"/>
            <a:ext cx="914400" cy="274320"/>
          </a:xfrm>
          <a:prstGeom prst="rect">
            <a:avLst/>
          </a:prstGeom>
          <a:noFill/>
        </p:spPr>
        <p:txBody>
          <a:bodyPr wrap="square" anchor="t" lIns="45720" rIns="45720" tIns="27432" bIns="27432">
            <a:spAutoFit/>
          </a:bodyPr>
          <a:lstStyle/>
          <a:p>
            <a:pPr algn="r">
              <a:spcAft>
                <a:spcPts val="0"/>
              </a:spcAft>
            </a:pPr>
            <a:r>
              <a:rPr sz="1000" b="0">
                <a:solidFill>
                  <a:srgbClr val="52514E"/>
                </a:solidFill>
                <a:latin typeface="Calibri"/>
              </a:rPr>
              <a:t>4</a:t>
            </a:r>
          </a:p>
        </p:txBody>
      </p:sp>
      <p:sp>
        <p:nvSpPr>
          <p:cNvPr id="5" name="TextBox 4"/>
          <p:cNvSpPr txBox="1"/>
          <p:nvPr/>
        </p:nvSpPr>
        <p:spPr>
          <a:xfrm>
            <a:off x="548640" y="1325880"/>
            <a:ext cx="6035040" cy="4480560"/>
          </a:xfrm>
          <a:prstGeom prst="rect">
            <a:avLst/>
          </a:prstGeom>
          <a:noFill/>
        </p:spPr>
        <p:txBody>
          <a:bodyPr wrap="square" anchor="t" lIns="45720" rIns="45720" tIns="27432" bIns="27432">
            <a:spAutoFit/>
          </a:bodyPr>
          <a:lstStyle/>
          <a:p>
            <a:pPr marL="228600" indent="-228600">
              <a:spcAft>
                <a:spcPts val="1200"/>
              </a:spcAft>
              <a:buChar char="•"/>
            </a:pPr>
            <a:r>
              <a:rPr sz="2000" b="0">
                <a:solidFill>
                  <a:srgbClr val="0B0B0B"/>
                </a:solidFill>
                <a:latin typeface="Calibri"/>
              </a:rPr>
              <a:t>Tire slip α produces the lateral force: F</a:t>
            </a:r>
            <a:r>
              <a:rPr sz="2000" b="0" baseline="-25000">
                <a:solidFill>
                  <a:srgbClr val="0B0B0B"/>
                </a:solidFill>
                <a:latin typeface="Calibri"/>
              </a:rPr>
              <a:t>y</a:t>
            </a:r>
            <a:r>
              <a:rPr sz="2000" b="0">
                <a:solidFill>
                  <a:srgbClr val="0B0B0B"/>
                </a:solidFill>
                <a:latin typeface="Calibri"/>
              </a:rPr>
              <a:t> ≈ C·α, saturating at μ·F</a:t>
            </a:r>
            <a:r>
              <a:rPr sz="2000" b="0" baseline="-25000">
                <a:solidFill>
                  <a:srgbClr val="0B0B0B"/>
                </a:solidFill>
                <a:latin typeface="Calibri"/>
              </a:rPr>
              <a:t>z</a:t>
            </a:r>
            <a:r>
              <a:rPr sz="2000" b="0">
                <a:solidFill>
                  <a:srgbClr val="0B0B0B"/>
                </a:solidFill>
                <a:latin typeface="Calibri"/>
              </a:rPr>
              <a:t>.</a:t>
            </a:r>
          </a:p>
          <a:p>
            <a:pPr marL="228600" indent="-228600">
              <a:spcAft>
                <a:spcPts val="1200"/>
              </a:spcAft>
              <a:buChar char="•"/>
            </a:pPr>
            <a:r>
              <a:rPr sz="2000" b="0">
                <a:solidFill>
                  <a:srgbClr val="0B0B0B"/>
                </a:solidFill>
                <a:latin typeface="Calibri"/>
              </a:rPr>
              <a:t>The forces change the lateral velocity v</a:t>
            </a:r>
            <a:r>
              <a:rPr sz="2000" b="0" baseline="-25000">
                <a:solidFill>
                  <a:srgbClr val="0B0B0B"/>
                </a:solidFill>
                <a:latin typeface="Calibri"/>
              </a:rPr>
              <a:t>y</a:t>
            </a:r>
            <a:r>
              <a:rPr sz="2000" b="0">
                <a:solidFill>
                  <a:srgbClr val="0B0B0B"/>
                </a:solidFill>
                <a:latin typeface="Calibri"/>
              </a:rPr>
              <a:t> and the yaw rate r; β follows from the motion.</a:t>
            </a:r>
          </a:p>
          <a:p>
            <a:pPr marL="228600" indent="-228600">
              <a:spcAft>
                <a:spcPts val="1200"/>
              </a:spcAft>
              <a:buChar char="•"/>
            </a:pPr>
            <a:r>
              <a:rPr sz="2000" b="0">
                <a:solidFill>
                  <a:srgbClr val="0B0B0B"/>
                </a:solidFill>
                <a:latin typeface="Calibri"/>
              </a:rPr>
              <a:t>Exact identity: α</a:t>
            </a:r>
            <a:r>
              <a:rPr sz="2000" b="0" baseline="-25000">
                <a:solidFill>
                  <a:srgbClr val="0B0B0B"/>
                </a:solidFill>
                <a:latin typeface="Calibri"/>
              </a:rPr>
              <a:t>r</a:t>
            </a:r>
            <a:r>
              <a:rPr sz="2000" b="0">
                <a:solidFill>
                  <a:srgbClr val="0B0B0B"/>
                </a:solidFill>
                <a:latin typeface="Calibri"/>
              </a:rPr>
              <a:t> is minus the velocity angle of the rear axle. With the rear axle as the vehicle's reference point, </a:t>
            </a:r>
            <a:r>
              <a:rPr sz="2000" b="1">
                <a:solidFill>
                  <a:srgbClr val="0B0B0B"/>
                </a:solidFill>
                <a:latin typeface="Calibri"/>
              </a:rPr>
              <a:t>the rear tire slip is the crab of that point</a:t>
            </a:r>
            <a:r>
              <a:rPr sz="2000" b="0">
                <a:solidFill>
                  <a:srgbClr val="0B0B0B"/>
                </a:solidFill>
                <a:latin typeface="Calibri"/>
              </a:rPr>
              <a:t>.</a:t>
            </a:r>
          </a:p>
          <a:p>
            <a:pPr marL="228600" indent="-228600">
              <a:spcAft>
                <a:spcPts val="1200"/>
              </a:spcAft>
              <a:buChar char="•"/>
            </a:pPr>
            <a:r>
              <a:rPr sz="2000" b="0">
                <a:solidFill>
                  <a:srgbClr val="0B0B0B"/>
                </a:solidFill>
                <a:latin typeface="Calibri"/>
              </a:rPr>
              <a:t>β at the CG mixes two things: the rear-axle crab and a geometric part from the yaw rate.</a:t>
            </a:r>
          </a:p>
        </p:txBody>
      </p:sp>
      <p:sp>
        <p:nvSpPr>
          <p:cNvPr id="6" name="Rectangle 5"/>
          <p:cNvSpPr/>
          <p:nvPr/>
        </p:nvSpPr>
        <p:spPr>
          <a:xfrm>
            <a:off x="6949440" y="1417320"/>
            <a:ext cx="4663440" cy="3108960"/>
          </a:xfrm>
          <a:prstGeom prst="rect">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949440" y="1417320"/>
            <a:ext cx="82296" cy="310896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78040" y="1527048"/>
            <a:ext cx="4297679" cy="548640"/>
          </a:xfrm>
          <a:prstGeom prst="rect">
            <a:avLst/>
          </a:prstGeom>
          <a:noFill/>
        </p:spPr>
        <p:txBody>
          <a:bodyPr wrap="square" anchor="t" lIns="45720" rIns="45720" tIns="27432" bIns="27432">
            <a:spAutoFit/>
          </a:bodyPr>
          <a:lstStyle/>
          <a:p>
            <a:pPr>
              <a:spcAft>
                <a:spcPts val="0"/>
              </a:spcAft>
            </a:pPr>
            <a:r>
              <a:rPr sz="1800" b="1">
                <a:solidFill>
                  <a:srgbClr val="2A78D6"/>
                </a:solidFill>
                <a:latin typeface="Calibri"/>
              </a:rPr>
              <a:t>Relations</a:t>
            </a:r>
          </a:p>
        </p:txBody>
      </p:sp>
      <p:sp>
        <p:nvSpPr>
          <p:cNvPr id="9" name="TextBox 8"/>
          <p:cNvSpPr txBox="1"/>
          <p:nvPr/>
        </p:nvSpPr>
        <p:spPr>
          <a:xfrm>
            <a:off x="7178040" y="2103120"/>
            <a:ext cx="4297679" cy="2331720"/>
          </a:xfrm>
          <a:prstGeom prst="rect">
            <a:avLst/>
          </a:prstGeom>
          <a:noFill/>
        </p:spPr>
        <p:txBody>
          <a:bodyPr wrap="square" anchor="t" lIns="45720" rIns="45720" tIns="27432" bIns="27432">
            <a:spAutoFit/>
          </a:bodyPr>
          <a:lstStyle/>
          <a:p>
            <a:pPr>
              <a:spcAft>
                <a:spcPts val="600"/>
              </a:spcAft>
            </a:pPr>
            <a:r>
              <a:rPr sz="1600" b="0">
                <a:solidFill>
                  <a:srgbClr val="0B0B0B"/>
                </a:solidFill>
                <a:latin typeface="Calibri"/>
              </a:rPr>
              <a:t>β</a:t>
            </a:r>
            <a:r>
              <a:rPr sz="1600" b="0" baseline="-25000">
                <a:solidFill>
                  <a:srgbClr val="0B0B0B"/>
                </a:solidFill>
                <a:latin typeface="Calibri"/>
              </a:rPr>
              <a:t>CG</a:t>
            </a:r>
            <a:r>
              <a:rPr sz="1600" b="0">
                <a:solidFill>
                  <a:srgbClr val="0B0B0B"/>
                </a:solidFill>
                <a:latin typeface="Calibri"/>
              </a:rPr>
              <a:t> = β</a:t>
            </a:r>
            <a:r>
              <a:rPr sz="1600" b="0" baseline="-25000">
                <a:solidFill>
                  <a:srgbClr val="0B0B0B"/>
                </a:solidFill>
                <a:latin typeface="Calibri"/>
              </a:rPr>
              <a:t>rear</a:t>
            </a:r>
            <a:r>
              <a:rPr sz="1600" b="0">
                <a:solidFill>
                  <a:srgbClr val="0B0B0B"/>
                </a:solidFill>
                <a:latin typeface="Calibri"/>
              </a:rPr>
              <a:t> + b·r / v</a:t>
            </a:r>
            <a:r>
              <a:rPr sz="1600" b="0" baseline="-25000">
                <a:solidFill>
                  <a:srgbClr val="0B0B0B"/>
                </a:solidFill>
                <a:latin typeface="Calibri"/>
              </a:rPr>
              <a:t>x</a:t>
            </a:r>
          </a:p>
          <a:p>
            <a:pPr>
              <a:spcAft>
                <a:spcPts val="600"/>
              </a:spcAft>
            </a:pPr>
            <a:r>
              <a:rPr sz="1600" b="0">
                <a:solidFill>
                  <a:srgbClr val="0B0B0B"/>
                </a:solidFill>
                <a:latin typeface="Calibri"/>
              </a:rPr>
              <a:t>β</a:t>
            </a:r>
            <a:r>
              <a:rPr sz="1600" b="0" baseline="-25000">
                <a:solidFill>
                  <a:srgbClr val="0B0B0B"/>
                </a:solidFill>
                <a:latin typeface="Calibri"/>
              </a:rPr>
              <a:t>rear</a:t>
            </a:r>
            <a:r>
              <a:rPr sz="1600" b="0">
                <a:solidFill>
                  <a:srgbClr val="0B0B0B"/>
                </a:solidFill>
                <a:latin typeface="Calibri"/>
              </a:rPr>
              <a:t> = −α</a:t>
            </a:r>
            <a:r>
              <a:rPr sz="1600" b="0" baseline="-25000">
                <a:solidFill>
                  <a:srgbClr val="0B0B0B"/>
                </a:solidFill>
                <a:latin typeface="Calibri"/>
              </a:rPr>
              <a:t>r</a:t>
            </a:r>
          </a:p>
          <a:p>
            <a:pPr>
              <a:spcAft>
                <a:spcPts val="600"/>
              </a:spcAft>
            </a:pPr>
            <a:r>
              <a:rPr sz="1600" b="0">
                <a:solidFill>
                  <a:srgbClr val="0B0B0B"/>
                </a:solidFill>
                <a:latin typeface="Calibri"/>
              </a:rPr>
              <a:t>→ β</a:t>
            </a:r>
            <a:r>
              <a:rPr sz="1600" b="0" baseline="-25000">
                <a:solidFill>
                  <a:srgbClr val="0B0B0B"/>
                </a:solidFill>
                <a:latin typeface="Calibri"/>
              </a:rPr>
              <a:t>CG</a:t>
            </a:r>
            <a:r>
              <a:rPr sz="1600" b="0">
                <a:solidFill>
                  <a:srgbClr val="0B0B0B"/>
                </a:solidFill>
                <a:latin typeface="Calibri"/>
              </a:rPr>
              <a:t> = −α</a:t>
            </a:r>
            <a:r>
              <a:rPr sz="1600" b="0" baseline="-25000">
                <a:solidFill>
                  <a:srgbClr val="0B0B0B"/>
                </a:solidFill>
                <a:latin typeface="Calibri"/>
              </a:rPr>
              <a:t>r</a:t>
            </a:r>
            <a:r>
              <a:rPr sz="1600" b="0">
                <a:solidFill>
                  <a:srgbClr val="0B0B0B"/>
                </a:solidFill>
                <a:latin typeface="Calibri"/>
              </a:rPr>
              <a:t> + b·r / v</a:t>
            </a:r>
            <a:r>
              <a:rPr sz="1600" b="0" baseline="-25000">
                <a:solidFill>
                  <a:srgbClr val="0B0B0B"/>
                </a:solidFill>
                <a:latin typeface="Calibri"/>
              </a:rPr>
              <a:t>x</a:t>
            </a:r>
          </a:p>
          <a:p>
            <a:pPr>
              <a:spcAft>
                <a:spcPts val="600"/>
              </a:spcAft>
            </a:pPr>
            <a:r>
              <a:rPr sz="1500" b="0">
                <a:solidFill>
                  <a:srgbClr val="52514E"/>
                </a:solidFill>
                <a:latin typeface="Calibri"/>
              </a:rPr>
              <a:t>The b·r / v</a:t>
            </a:r>
            <a:r>
              <a:rPr sz="1500" b="0" baseline="-25000">
                <a:solidFill>
                  <a:srgbClr val="52514E"/>
                </a:solidFill>
                <a:latin typeface="Calibri"/>
              </a:rPr>
              <a:t>x</a:t>
            </a:r>
            <a:r>
              <a:rPr sz="1500" b="0">
                <a:solidFill>
                  <a:srgbClr val="52514E"/>
                </a:solidFill>
                <a:latin typeface="Calibri"/>
              </a:rPr>
              <a:t> term is all that is left with no slip: the kinematic β.</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51560"/>
          </a:xfrm>
          <a:prstGeom prst="rect">
            <a:avLst/>
          </a:prstGeom>
          <a:noFill/>
        </p:spPr>
        <p:txBody>
          <a:bodyPr wrap="square" anchor="t" lIns="45720" rIns="45720" tIns="27432" bIns="27432">
            <a:spAutoFit/>
          </a:bodyPr>
          <a:lstStyle/>
          <a:p>
            <a:pPr>
              <a:spcAft>
                <a:spcPts val="0"/>
              </a:spcAft>
            </a:pPr>
            <a:r>
              <a:rPr sz="2800" b="1">
                <a:solidFill>
                  <a:srgbClr val="0B0B0B"/>
                </a:solidFill>
                <a:latin typeface="Calibri"/>
              </a:rPr>
              <a:t>The kinematic bicycle forces the wheels to roll without slip</a:t>
            </a:r>
          </a:p>
        </p:txBody>
      </p:sp>
      <p:sp>
        <p:nvSpPr>
          <p:cNvPr id="3" name="TextBox 2"/>
          <p:cNvSpPr txBox="1"/>
          <p:nvPr/>
        </p:nvSpPr>
        <p:spPr>
          <a:xfrm>
            <a:off x="548640" y="6446520"/>
            <a:ext cx="7315200" cy="274320"/>
          </a:xfrm>
          <a:prstGeom prst="rect">
            <a:avLst/>
          </a:prstGeom>
          <a:noFill/>
        </p:spPr>
        <p:txBody>
          <a:bodyPr wrap="square" anchor="t" lIns="45720" rIns="45720" tIns="27432" bIns="27432">
            <a:spAutoFit/>
          </a:bodyPr>
          <a:lstStyle/>
          <a:p>
            <a:pPr>
              <a:spcAft>
                <a:spcPts val="0"/>
              </a:spcAft>
            </a:pPr>
            <a:r>
              <a:rPr sz="1000" b="0">
                <a:solidFill>
                  <a:srgbClr val="52514E"/>
                </a:solidFill>
                <a:latin typeface="Calibri"/>
              </a:rPr>
              <a:t>parking_sim · side slip: kinematic and dynamic bicycle model</a:t>
            </a:r>
          </a:p>
        </p:txBody>
      </p:sp>
      <p:sp>
        <p:nvSpPr>
          <p:cNvPr id="4" name="TextBox 3"/>
          <p:cNvSpPr txBox="1"/>
          <p:nvPr/>
        </p:nvSpPr>
        <p:spPr>
          <a:xfrm>
            <a:off x="10728655" y="6446520"/>
            <a:ext cx="914400" cy="274320"/>
          </a:xfrm>
          <a:prstGeom prst="rect">
            <a:avLst/>
          </a:prstGeom>
          <a:noFill/>
        </p:spPr>
        <p:txBody>
          <a:bodyPr wrap="square" anchor="t" lIns="45720" rIns="45720" tIns="27432" bIns="27432">
            <a:spAutoFit/>
          </a:bodyPr>
          <a:lstStyle/>
          <a:p>
            <a:pPr algn="r">
              <a:spcAft>
                <a:spcPts val="0"/>
              </a:spcAft>
            </a:pPr>
            <a:r>
              <a:rPr sz="1000" b="0">
                <a:solidFill>
                  <a:srgbClr val="52514E"/>
                </a:solidFill>
                <a:latin typeface="Calibri"/>
              </a:rPr>
              <a:t>5</a:t>
            </a:r>
          </a:p>
        </p:txBody>
      </p:sp>
      <p:pic>
        <p:nvPicPr>
          <p:cNvPr id="5" name="Picture 4" descr="kinematic.png"/>
          <p:cNvPicPr>
            <a:picLocks noChangeAspect="1"/>
          </p:cNvPicPr>
          <p:nvPr/>
        </p:nvPicPr>
        <p:blipFill>
          <a:blip r:embed="rId2"/>
          <a:stretch>
            <a:fillRect/>
          </a:stretch>
        </p:blipFill>
        <p:spPr>
          <a:xfrm>
            <a:off x="605909" y="1280160"/>
            <a:ext cx="5829061" cy="4846320"/>
          </a:xfrm>
          <a:prstGeom prst="rect">
            <a:avLst/>
          </a:prstGeom>
        </p:spPr>
      </p:pic>
      <p:sp>
        <p:nvSpPr>
          <p:cNvPr id="6" name="TextBox 5"/>
          <p:cNvSpPr txBox="1"/>
          <p:nvPr/>
        </p:nvSpPr>
        <p:spPr>
          <a:xfrm>
            <a:off x="6766560" y="1325880"/>
            <a:ext cx="4846320" cy="4480560"/>
          </a:xfrm>
          <a:prstGeom prst="rect">
            <a:avLst/>
          </a:prstGeom>
          <a:noFill/>
        </p:spPr>
        <p:txBody>
          <a:bodyPr wrap="square" anchor="t" lIns="45720" rIns="45720" tIns="27432" bIns="27432">
            <a:spAutoFit/>
          </a:bodyPr>
          <a:lstStyle/>
          <a:p>
            <a:pPr marL="205740" indent="-205740">
              <a:spcAft>
                <a:spcPts val="900"/>
              </a:spcAft>
              <a:buChar char="•"/>
            </a:pPr>
            <a:r>
              <a:rPr sz="1800" b="0">
                <a:solidFill>
                  <a:srgbClr val="0B0B0B"/>
                </a:solidFill>
                <a:latin typeface="Calibri"/>
              </a:rPr>
              <a:t>Assumption: each axle's velocity is along its wheels, so the rear axle has v</a:t>
            </a:r>
            <a:r>
              <a:rPr sz="1800" b="0" baseline="-25000">
                <a:solidFill>
                  <a:srgbClr val="0B0B0B"/>
                </a:solidFill>
                <a:latin typeface="Calibri"/>
              </a:rPr>
              <a:t>y</a:t>
            </a:r>
            <a:r>
              <a:rPr sz="1800" b="0">
                <a:solidFill>
                  <a:srgbClr val="0B0B0B"/>
                </a:solidFill>
                <a:latin typeface="Calibri"/>
              </a:rPr>
              <a:t> = 0 and α</a:t>
            </a:r>
            <a:r>
              <a:rPr sz="1800" b="0" baseline="-25000">
                <a:solidFill>
                  <a:srgbClr val="0B0B0B"/>
                </a:solidFill>
                <a:latin typeface="Calibri"/>
              </a:rPr>
              <a:t>f</a:t>
            </a:r>
            <a:r>
              <a:rPr sz="1800" b="0">
                <a:solidFill>
                  <a:srgbClr val="0B0B0B"/>
                </a:solidFill>
                <a:latin typeface="Calibri"/>
              </a:rPr>
              <a:t> = α</a:t>
            </a:r>
            <a:r>
              <a:rPr sz="1800" b="0" baseline="-25000">
                <a:solidFill>
                  <a:srgbClr val="0B0B0B"/>
                </a:solidFill>
                <a:latin typeface="Calibri"/>
              </a:rPr>
              <a:t>r</a:t>
            </a:r>
            <a:r>
              <a:rPr sz="1800" b="0">
                <a:solidFill>
                  <a:srgbClr val="0B0B0B"/>
                </a:solidFill>
                <a:latin typeface="Calibri"/>
              </a:rPr>
              <a:t> = 0.</a:t>
            </a:r>
          </a:p>
          <a:p>
            <a:pPr marL="205740" indent="-205740">
              <a:spcAft>
                <a:spcPts val="900"/>
              </a:spcAft>
              <a:buChar char="•"/>
            </a:pPr>
            <a:r>
              <a:rPr sz="1800" b="0">
                <a:solidFill>
                  <a:srgbClr val="0B0B0B"/>
                </a:solidFill>
                <a:latin typeface="Calibri"/>
              </a:rPr>
              <a:t>Motion: ẋ = v cos ψ, ẏ = v sin ψ, ψ̇ = v tan δ / L, v̇ = a.</a:t>
            </a:r>
          </a:p>
          <a:p>
            <a:pPr marL="205740" indent="-205740">
              <a:spcAft>
                <a:spcPts val="900"/>
              </a:spcAft>
              <a:buChar char="•"/>
            </a:pPr>
            <a:r>
              <a:rPr sz="1800" b="0">
                <a:solidFill>
                  <a:srgbClr val="0B0B0B"/>
                </a:solidFill>
                <a:latin typeface="Calibri"/>
              </a:rPr>
              <a:t>Yaw rate r = v tan δ / L; turn radius R = L / tan δ of the rear axle.</a:t>
            </a:r>
          </a:p>
          <a:p>
            <a:pPr marL="205740" indent="-205740">
              <a:spcAft>
                <a:spcPts val="900"/>
              </a:spcAft>
              <a:buChar char="•"/>
            </a:pPr>
            <a:r>
              <a:rPr sz="1800" b="0">
                <a:solidFill>
                  <a:srgbClr val="0B0B0B"/>
                </a:solidFill>
                <a:latin typeface="Calibri"/>
              </a:rPr>
              <a:t>No mass, no forces, no grip: any curvature is followed exactly.</a:t>
            </a:r>
          </a:p>
          <a:p>
            <a:pPr marL="205740" indent="-205740">
              <a:spcAft>
                <a:spcPts val="900"/>
              </a:spcAft>
              <a:buChar char="•"/>
            </a:pPr>
            <a:r>
              <a:rPr sz="1800" b="0">
                <a:solidFill>
                  <a:srgbClr val="0B0B0B"/>
                </a:solidFill>
                <a:latin typeface="Calibri"/>
              </a:rPr>
              <a:t>In parking_sim: BicycleModel, RK4 at 10 ms, rear-axle reference.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51560"/>
          </a:xfrm>
          <a:prstGeom prst="rect">
            <a:avLst/>
          </a:prstGeom>
          <a:noFill/>
        </p:spPr>
        <p:txBody>
          <a:bodyPr wrap="square" anchor="t" lIns="45720" rIns="45720" tIns="27432" bIns="27432">
            <a:spAutoFit/>
          </a:bodyPr>
          <a:lstStyle/>
          <a:p>
            <a:pPr>
              <a:spcAft>
                <a:spcPts val="0"/>
              </a:spcAft>
            </a:pPr>
            <a:r>
              <a:rPr sz="2800" b="1">
                <a:solidFill>
                  <a:srgbClr val="0B0B0B"/>
                </a:solidFill>
                <a:latin typeface="Calibri"/>
              </a:rPr>
              <a:t>It still has a body side slip, but that one is geometric and says nothing about grip</a:t>
            </a:r>
          </a:p>
        </p:txBody>
      </p:sp>
      <p:sp>
        <p:nvSpPr>
          <p:cNvPr id="3" name="TextBox 2"/>
          <p:cNvSpPr txBox="1"/>
          <p:nvPr/>
        </p:nvSpPr>
        <p:spPr>
          <a:xfrm>
            <a:off x="548640" y="6446520"/>
            <a:ext cx="7315200" cy="274320"/>
          </a:xfrm>
          <a:prstGeom prst="rect">
            <a:avLst/>
          </a:prstGeom>
          <a:noFill/>
        </p:spPr>
        <p:txBody>
          <a:bodyPr wrap="square" anchor="t" lIns="45720" rIns="45720" tIns="27432" bIns="27432">
            <a:spAutoFit/>
          </a:bodyPr>
          <a:lstStyle/>
          <a:p>
            <a:pPr>
              <a:spcAft>
                <a:spcPts val="0"/>
              </a:spcAft>
            </a:pPr>
            <a:r>
              <a:rPr sz="1000" b="0">
                <a:solidFill>
                  <a:srgbClr val="52514E"/>
                </a:solidFill>
                <a:latin typeface="Calibri"/>
              </a:rPr>
              <a:t>parking_sim · side slip: kinematic and dynamic bicycle model</a:t>
            </a:r>
          </a:p>
        </p:txBody>
      </p:sp>
      <p:sp>
        <p:nvSpPr>
          <p:cNvPr id="4" name="TextBox 3"/>
          <p:cNvSpPr txBox="1"/>
          <p:nvPr/>
        </p:nvSpPr>
        <p:spPr>
          <a:xfrm>
            <a:off x="10728655" y="6446520"/>
            <a:ext cx="914400" cy="274320"/>
          </a:xfrm>
          <a:prstGeom prst="rect">
            <a:avLst/>
          </a:prstGeom>
          <a:noFill/>
        </p:spPr>
        <p:txBody>
          <a:bodyPr wrap="square" anchor="t" lIns="45720" rIns="45720" tIns="27432" bIns="27432">
            <a:spAutoFit/>
          </a:bodyPr>
          <a:lstStyle/>
          <a:p>
            <a:pPr algn="r">
              <a:spcAft>
                <a:spcPts val="0"/>
              </a:spcAft>
            </a:pPr>
            <a:r>
              <a:rPr sz="1000" b="0">
                <a:solidFill>
                  <a:srgbClr val="52514E"/>
                </a:solidFill>
                <a:latin typeface="Calibri"/>
              </a:rPr>
              <a:t>6</a:t>
            </a:r>
          </a:p>
        </p:txBody>
      </p:sp>
      <p:pic>
        <p:nvPicPr>
          <p:cNvPr id="5" name="Picture 4" descr="beta_geometric.png"/>
          <p:cNvPicPr>
            <a:picLocks noChangeAspect="1"/>
          </p:cNvPicPr>
          <p:nvPr/>
        </p:nvPicPr>
        <p:blipFill>
          <a:blip r:embed="rId2"/>
          <a:stretch>
            <a:fillRect/>
          </a:stretch>
        </p:blipFill>
        <p:spPr>
          <a:xfrm>
            <a:off x="606667" y="1325880"/>
            <a:ext cx="6010425" cy="4206240"/>
          </a:xfrm>
          <a:prstGeom prst="rect">
            <a:avLst/>
          </a:prstGeom>
        </p:spPr>
      </p:pic>
      <p:sp>
        <p:nvSpPr>
          <p:cNvPr id="6" name="TextBox 5"/>
          <p:cNvSpPr txBox="1"/>
          <p:nvPr/>
        </p:nvSpPr>
        <p:spPr>
          <a:xfrm>
            <a:off x="6949440" y="1325880"/>
            <a:ext cx="4663440" cy="4480560"/>
          </a:xfrm>
          <a:prstGeom prst="rect">
            <a:avLst/>
          </a:prstGeom>
          <a:noFill/>
        </p:spPr>
        <p:txBody>
          <a:bodyPr wrap="square" anchor="t" lIns="45720" rIns="45720" tIns="27432" bIns="27432">
            <a:spAutoFit/>
          </a:bodyPr>
          <a:lstStyle/>
          <a:p>
            <a:pPr marL="205740" indent="-205740">
              <a:spcAft>
                <a:spcPts val="1000"/>
              </a:spcAft>
              <a:buChar char="•"/>
            </a:pPr>
            <a:r>
              <a:rPr sz="1800" b="0">
                <a:solidFill>
                  <a:srgbClr val="0B0B0B"/>
                </a:solidFill>
                <a:latin typeface="Calibri"/>
              </a:rPr>
              <a:t>β at the CG = atan(b·tan δ / L): 9.8° at 0.3 rad of steering.</a:t>
            </a:r>
          </a:p>
          <a:p>
            <a:pPr marL="205740" indent="-205740">
              <a:spcAft>
                <a:spcPts val="1000"/>
              </a:spcAft>
              <a:buChar char="•"/>
            </a:pPr>
            <a:r>
              <a:rPr sz="1800" b="0">
                <a:solidFill>
                  <a:srgbClr val="0B0B0B"/>
                </a:solidFill>
                <a:latin typeface="Calibri"/>
              </a:rPr>
              <a:t>The rear axle, our reference point, has β = 0 in this model.</a:t>
            </a:r>
          </a:p>
          <a:p>
            <a:pPr marL="205740" indent="-205740">
              <a:spcAft>
                <a:spcPts val="1000"/>
              </a:spcAft>
              <a:buChar char="•"/>
            </a:pPr>
            <a:r>
              <a:rPr sz="1800" b="0">
                <a:solidFill>
                  <a:srgbClr val="0B0B0B"/>
                </a:solidFill>
                <a:latin typeface="Calibri"/>
              </a:rPr>
              <a:t>So "side slip" without a point and a model is ambiguous: a large kinematic β is not a sliding car.</a:t>
            </a:r>
          </a:p>
          <a:p>
            <a:pPr marL="205740" indent="-205740">
              <a:spcAft>
                <a:spcPts val="1000"/>
              </a:spcAft>
              <a:buChar char="•"/>
            </a:pPr>
            <a:r>
              <a:rPr sz="1800" b="0">
                <a:solidFill>
                  <a:srgbClr val="0B0B0B"/>
                </a:solidFill>
                <a:latin typeface="Calibri"/>
              </a:rPr>
              <a:t>Only the dynamic model separates the geometric part from the slip part.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51560"/>
          </a:xfrm>
          <a:prstGeom prst="rect">
            <a:avLst/>
          </a:prstGeom>
          <a:noFill/>
        </p:spPr>
        <p:txBody>
          <a:bodyPr wrap="square" anchor="t" lIns="45720" rIns="45720" tIns="27432" bIns="27432">
            <a:spAutoFit/>
          </a:bodyPr>
          <a:lstStyle/>
          <a:p>
            <a:pPr>
              <a:spcAft>
                <a:spcPts val="0"/>
              </a:spcAft>
            </a:pPr>
            <a:r>
              <a:rPr sz="2800" b="1">
                <a:solidFill>
                  <a:srgbClr val="0B0B0B"/>
                </a:solidFill>
                <a:latin typeface="Calibri"/>
              </a:rPr>
              <a:t>The dynamic bicycle computes the slip angles from its states</a:t>
            </a:r>
          </a:p>
        </p:txBody>
      </p:sp>
      <p:sp>
        <p:nvSpPr>
          <p:cNvPr id="3" name="TextBox 2"/>
          <p:cNvSpPr txBox="1"/>
          <p:nvPr/>
        </p:nvSpPr>
        <p:spPr>
          <a:xfrm>
            <a:off x="548640" y="6446520"/>
            <a:ext cx="7315200" cy="274320"/>
          </a:xfrm>
          <a:prstGeom prst="rect">
            <a:avLst/>
          </a:prstGeom>
          <a:noFill/>
        </p:spPr>
        <p:txBody>
          <a:bodyPr wrap="square" anchor="t" lIns="45720" rIns="45720" tIns="27432" bIns="27432">
            <a:spAutoFit/>
          </a:bodyPr>
          <a:lstStyle/>
          <a:p>
            <a:pPr>
              <a:spcAft>
                <a:spcPts val="0"/>
              </a:spcAft>
            </a:pPr>
            <a:r>
              <a:rPr sz="1000" b="0">
                <a:solidFill>
                  <a:srgbClr val="52514E"/>
                </a:solidFill>
                <a:latin typeface="Calibri"/>
              </a:rPr>
              <a:t>parking_sim · side slip: kinematic and dynamic bicycle model</a:t>
            </a:r>
          </a:p>
        </p:txBody>
      </p:sp>
      <p:sp>
        <p:nvSpPr>
          <p:cNvPr id="4" name="TextBox 3"/>
          <p:cNvSpPr txBox="1"/>
          <p:nvPr/>
        </p:nvSpPr>
        <p:spPr>
          <a:xfrm>
            <a:off x="10728655" y="6446520"/>
            <a:ext cx="914400" cy="274320"/>
          </a:xfrm>
          <a:prstGeom prst="rect">
            <a:avLst/>
          </a:prstGeom>
          <a:noFill/>
        </p:spPr>
        <p:txBody>
          <a:bodyPr wrap="square" anchor="t" lIns="45720" rIns="45720" tIns="27432" bIns="27432">
            <a:spAutoFit/>
          </a:bodyPr>
          <a:lstStyle/>
          <a:p>
            <a:pPr algn="r">
              <a:spcAft>
                <a:spcPts val="0"/>
              </a:spcAft>
            </a:pPr>
            <a:r>
              <a:rPr sz="1000" b="0">
                <a:solidFill>
                  <a:srgbClr val="52514E"/>
                </a:solidFill>
                <a:latin typeface="Calibri"/>
              </a:rPr>
              <a:t>7</a:t>
            </a:r>
          </a:p>
        </p:txBody>
      </p:sp>
      <p:pic>
        <p:nvPicPr>
          <p:cNvPr id="5" name="Picture 4" descr="dynamic_loop.png"/>
          <p:cNvPicPr>
            <a:picLocks noChangeAspect="1"/>
          </p:cNvPicPr>
          <p:nvPr/>
        </p:nvPicPr>
        <p:blipFill>
          <a:blip r:embed="rId2"/>
          <a:stretch>
            <a:fillRect/>
          </a:stretch>
        </p:blipFill>
        <p:spPr>
          <a:xfrm>
            <a:off x="1501786" y="1280160"/>
            <a:ext cx="9188122" cy="3017520"/>
          </a:xfrm>
          <a:prstGeom prst="rect">
            <a:avLst/>
          </a:prstGeom>
        </p:spPr>
      </p:pic>
      <p:sp>
        <p:nvSpPr>
          <p:cNvPr id="6" name="TextBox 5"/>
          <p:cNvSpPr txBox="1"/>
          <p:nvPr/>
        </p:nvSpPr>
        <p:spPr>
          <a:xfrm>
            <a:off x="548640" y="4434840"/>
            <a:ext cx="11094415" cy="1737360"/>
          </a:xfrm>
          <a:prstGeom prst="rect">
            <a:avLst/>
          </a:prstGeom>
          <a:noFill/>
        </p:spPr>
        <p:txBody>
          <a:bodyPr wrap="square" anchor="t" lIns="45720" rIns="45720" tIns="27432" bIns="27432">
            <a:spAutoFit/>
          </a:bodyPr>
          <a:lstStyle/>
          <a:p>
            <a:pPr marL="194310" indent="-194310">
              <a:spcAft>
                <a:spcPts val="700"/>
              </a:spcAft>
              <a:buChar char="•"/>
            </a:pPr>
            <a:r>
              <a:rPr sz="1700" b="0">
                <a:solidFill>
                  <a:srgbClr val="0B0B0B"/>
                </a:solidFill>
                <a:latin typeface="Calibri"/>
              </a:rPr>
              <a:t>States: x, y, ψ, v</a:t>
            </a:r>
            <a:r>
              <a:rPr sz="1700" b="0" baseline="-25000">
                <a:solidFill>
                  <a:srgbClr val="0B0B0B"/>
                </a:solidFill>
                <a:latin typeface="Calibri"/>
              </a:rPr>
              <a:t>x</a:t>
            </a:r>
            <a:r>
              <a:rPr sz="1700" b="0">
                <a:solidFill>
                  <a:srgbClr val="0B0B0B"/>
                </a:solidFill>
                <a:latin typeface="Calibri"/>
              </a:rPr>
              <a:t>, v</a:t>
            </a:r>
            <a:r>
              <a:rPr sz="1700" b="0" baseline="-25000">
                <a:solidFill>
                  <a:srgbClr val="0B0B0B"/>
                </a:solidFill>
                <a:latin typeface="Calibri"/>
              </a:rPr>
              <a:t>y</a:t>
            </a:r>
            <a:r>
              <a:rPr sz="1700" b="0">
                <a:solidFill>
                  <a:srgbClr val="0B0B0B"/>
                </a:solidFill>
                <a:latin typeface="Calibri"/>
              </a:rPr>
              <a:t>, r (body frame at the CG); inputs: δ and the commanded acceleration (longitudinal channel unchanged).</a:t>
            </a:r>
          </a:p>
          <a:p>
            <a:pPr marL="194310" indent="-194310">
              <a:spcAft>
                <a:spcPts val="700"/>
              </a:spcAft>
              <a:buChar char="•"/>
            </a:pPr>
            <a:r>
              <a:rPr sz="1700" b="0">
                <a:solidFill>
                  <a:srgbClr val="0B0B0B"/>
                </a:solidFill>
                <a:latin typeface="Calibri"/>
              </a:rPr>
              <a:t>Parameters: m, I</a:t>
            </a:r>
            <a:r>
              <a:rPr sz="1700" b="0" baseline="-25000">
                <a:solidFill>
                  <a:srgbClr val="0B0B0B"/>
                </a:solidFill>
                <a:latin typeface="Calibri"/>
              </a:rPr>
              <a:t>z</a:t>
            </a:r>
            <a:r>
              <a:rPr sz="1700" b="0">
                <a:solidFill>
                  <a:srgbClr val="0B0B0B"/>
                </a:solidFill>
                <a:latin typeface="Calibri"/>
              </a:rPr>
              <a:t>, a, b, C</a:t>
            </a:r>
            <a:r>
              <a:rPr sz="1700" b="0" baseline="-25000">
                <a:solidFill>
                  <a:srgbClr val="0B0B0B"/>
                </a:solidFill>
                <a:latin typeface="Calibri"/>
              </a:rPr>
              <a:t>f</a:t>
            </a:r>
            <a:r>
              <a:rPr sz="1700" b="0">
                <a:solidFill>
                  <a:srgbClr val="0B0B0B"/>
                </a:solidFill>
                <a:latin typeface="Calibri"/>
              </a:rPr>
              <a:t>, C</a:t>
            </a:r>
            <a:r>
              <a:rPr sz="1700" b="0" baseline="-25000">
                <a:solidFill>
                  <a:srgbClr val="0B0B0B"/>
                </a:solidFill>
                <a:latin typeface="Calibri"/>
              </a:rPr>
              <a:t>r</a:t>
            </a:r>
            <a:r>
              <a:rPr sz="1700" b="0">
                <a:solidFill>
                  <a:srgbClr val="0B0B0B"/>
                </a:solidFill>
                <a:latin typeface="Calibri"/>
              </a:rPr>
              <a:t>, μ. Axle loads F</a:t>
            </a:r>
            <a:r>
              <a:rPr sz="1700" b="0" baseline="-25000">
                <a:solidFill>
                  <a:srgbClr val="0B0B0B"/>
                </a:solidFill>
                <a:latin typeface="Calibri"/>
              </a:rPr>
              <a:t>z</a:t>
            </a:r>
            <a:r>
              <a:rPr sz="1700" b="0">
                <a:solidFill>
                  <a:srgbClr val="0B0B0B"/>
                </a:solidFill>
                <a:latin typeface="Calibri"/>
              </a:rPr>
              <a:t> from the static weight split.</a:t>
            </a:r>
          </a:p>
          <a:p>
            <a:pPr marL="194310" indent="-194310">
              <a:spcAft>
                <a:spcPts val="700"/>
              </a:spcAft>
              <a:buChar char="•"/>
            </a:pPr>
            <a:r>
              <a:rPr sz="1700" b="0">
                <a:solidFill>
                  <a:srgbClr val="0B0B0B"/>
                </a:solidFill>
                <a:latin typeface="Calibri"/>
              </a:rPr>
              <a:t>A closed loop: slip changes force, force changes v</a:t>
            </a:r>
            <a:r>
              <a:rPr sz="1700" b="0" baseline="-25000">
                <a:solidFill>
                  <a:srgbClr val="0B0B0B"/>
                </a:solidFill>
                <a:latin typeface="Calibri"/>
              </a:rPr>
              <a:t>y</a:t>
            </a:r>
            <a:r>
              <a:rPr sz="1700" b="0">
                <a:solidFill>
                  <a:srgbClr val="0B0B0B"/>
                </a:solidFill>
                <a:latin typeface="Calibri"/>
              </a:rPr>
              <a:t> and r, those change the slip.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51560"/>
          </a:xfrm>
          <a:prstGeom prst="rect">
            <a:avLst/>
          </a:prstGeom>
          <a:noFill/>
        </p:spPr>
        <p:txBody>
          <a:bodyPr wrap="square" anchor="t" lIns="45720" rIns="45720" tIns="27432" bIns="27432">
            <a:spAutoFit/>
          </a:bodyPr>
          <a:lstStyle/>
          <a:p>
            <a:pPr>
              <a:spcAft>
                <a:spcPts val="0"/>
              </a:spcAft>
            </a:pPr>
            <a:r>
              <a:rPr sz="2800" b="1">
                <a:solidFill>
                  <a:srgbClr val="0B0B0B"/>
                </a:solidFill>
                <a:latin typeface="Calibri"/>
              </a:rPr>
              <a:t>The kinematic model is the limit of infinite tire stiffness</a:t>
            </a:r>
          </a:p>
        </p:txBody>
      </p:sp>
      <p:sp>
        <p:nvSpPr>
          <p:cNvPr id="3" name="TextBox 2"/>
          <p:cNvSpPr txBox="1"/>
          <p:nvPr/>
        </p:nvSpPr>
        <p:spPr>
          <a:xfrm>
            <a:off x="548640" y="6446520"/>
            <a:ext cx="7315200" cy="274320"/>
          </a:xfrm>
          <a:prstGeom prst="rect">
            <a:avLst/>
          </a:prstGeom>
          <a:noFill/>
        </p:spPr>
        <p:txBody>
          <a:bodyPr wrap="square" anchor="t" lIns="45720" rIns="45720" tIns="27432" bIns="27432">
            <a:spAutoFit/>
          </a:bodyPr>
          <a:lstStyle/>
          <a:p>
            <a:pPr>
              <a:spcAft>
                <a:spcPts val="0"/>
              </a:spcAft>
            </a:pPr>
            <a:r>
              <a:rPr sz="1000" b="0">
                <a:solidFill>
                  <a:srgbClr val="52514E"/>
                </a:solidFill>
                <a:latin typeface="Calibri"/>
              </a:rPr>
              <a:t>parking_sim · side slip: kinematic and dynamic bicycle model</a:t>
            </a:r>
          </a:p>
        </p:txBody>
      </p:sp>
      <p:sp>
        <p:nvSpPr>
          <p:cNvPr id="4" name="TextBox 3"/>
          <p:cNvSpPr txBox="1"/>
          <p:nvPr/>
        </p:nvSpPr>
        <p:spPr>
          <a:xfrm>
            <a:off x="10728655" y="6446520"/>
            <a:ext cx="914400" cy="274320"/>
          </a:xfrm>
          <a:prstGeom prst="rect">
            <a:avLst/>
          </a:prstGeom>
          <a:noFill/>
        </p:spPr>
        <p:txBody>
          <a:bodyPr wrap="square" anchor="t" lIns="45720" rIns="45720" tIns="27432" bIns="27432">
            <a:spAutoFit/>
          </a:bodyPr>
          <a:lstStyle/>
          <a:p>
            <a:pPr algn="r">
              <a:spcAft>
                <a:spcPts val="0"/>
              </a:spcAft>
            </a:pPr>
            <a:r>
              <a:rPr sz="1000" b="0">
                <a:solidFill>
                  <a:srgbClr val="52514E"/>
                </a:solidFill>
                <a:latin typeface="Calibri"/>
              </a:rPr>
              <a:t>8</a:t>
            </a:r>
          </a:p>
        </p:txBody>
      </p:sp>
      <p:sp>
        <p:nvSpPr>
          <p:cNvPr id="5" name="TextBox 4"/>
          <p:cNvSpPr txBox="1"/>
          <p:nvPr/>
        </p:nvSpPr>
        <p:spPr>
          <a:xfrm>
            <a:off x="548640" y="1325880"/>
            <a:ext cx="5760720" cy="4480560"/>
          </a:xfrm>
          <a:prstGeom prst="rect">
            <a:avLst/>
          </a:prstGeom>
          <a:noFill/>
        </p:spPr>
        <p:txBody>
          <a:bodyPr wrap="square" anchor="t" lIns="45720" rIns="45720" tIns="27432" bIns="27432">
            <a:spAutoFit/>
          </a:bodyPr>
          <a:lstStyle/>
          <a:p>
            <a:pPr marL="205740" indent="-205740">
              <a:spcAft>
                <a:spcPts val="1000"/>
              </a:spcAft>
              <a:buChar char="•"/>
            </a:pPr>
            <a:r>
              <a:rPr sz="1800" b="0">
                <a:solidFill>
                  <a:srgbClr val="0B0B0B"/>
                </a:solidFill>
                <a:latin typeface="Calibri"/>
              </a:rPr>
              <a:t>As C → ∞ the slip must vanish, and the two no-slip constraints of slide 5 return.</a:t>
            </a:r>
          </a:p>
          <a:p>
            <a:pPr marL="205740" indent="-205740">
              <a:spcAft>
                <a:spcPts val="1000"/>
              </a:spcAft>
              <a:buChar char="•"/>
            </a:pPr>
            <a:r>
              <a:rPr sz="1800" b="0">
                <a:solidFill>
                  <a:srgbClr val="0B0B0B"/>
                </a:solidFill>
                <a:latin typeface="Calibri"/>
              </a:rPr>
              <a:t>A finite C lets the constraints give: the slip angle is the amount of violation, α = F / C.</a:t>
            </a:r>
          </a:p>
          <a:p>
            <a:pPr marL="205740" indent="-205740">
              <a:spcAft>
                <a:spcPts val="1000"/>
              </a:spcAft>
              <a:buChar char="•"/>
            </a:pPr>
            <a:r>
              <a:rPr sz="1800" b="0">
                <a:solidFill>
                  <a:srgbClr val="0B0B0B"/>
                </a:solidFill>
                <a:latin typeface="Calibri"/>
              </a:rPr>
              <a:t>Steady turn: α</a:t>
            </a:r>
            <a:r>
              <a:rPr sz="1800" b="0" baseline="-25000">
                <a:solidFill>
                  <a:srgbClr val="0B0B0B"/>
                </a:solidFill>
                <a:latin typeface="Calibri"/>
              </a:rPr>
              <a:t>f</a:t>
            </a:r>
            <a:r>
              <a:rPr sz="1800" b="0">
                <a:solidFill>
                  <a:srgbClr val="0B0B0B"/>
                </a:solidFill>
                <a:latin typeface="Calibri"/>
              </a:rPr>
              <a:t> = m·a</a:t>
            </a:r>
            <a:r>
              <a:rPr sz="1800" b="0" baseline="-25000">
                <a:solidFill>
                  <a:srgbClr val="0B0B0B"/>
                </a:solidFill>
                <a:latin typeface="Calibri"/>
              </a:rPr>
              <a:t>y</a:t>
            </a:r>
            <a:r>
              <a:rPr sz="1800" b="0">
                <a:solidFill>
                  <a:srgbClr val="0B0B0B"/>
                </a:solidFill>
                <a:latin typeface="Calibri"/>
              </a:rPr>
              <a:t>·b / (L·C</a:t>
            </a:r>
            <a:r>
              <a:rPr sz="1800" b="0" baseline="-25000">
                <a:solidFill>
                  <a:srgbClr val="0B0B0B"/>
                </a:solidFill>
                <a:latin typeface="Calibri"/>
              </a:rPr>
              <a:t>f</a:t>
            </a:r>
            <a:r>
              <a:rPr sz="1800" b="0">
                <a:solidFill>
                  <a:srgbClr val="0B0B0B"/>
                </a:solidFill>
                <a:latin typeface="Calibri"/>
              </a:rPr>
              <a:t>), α</a:t>
            </a:r>
            <a:r>
              <a:rPr sz="1800" b="0" baseline="-25000">
                <a:solidFill>
                  <a:srgbClr val="0B0B0B"/>
                </a:solidFill>
                <a:latin typeface="Calibri"/>
              </a:rPr>
              <a:t>r</a:t>
            </a:r>
            <a:r>
              <a:rPr sz="1800" b="0">
                <a:solidFill>
                  <a:srgbClr val="0B0B0B"/>
                </a:solidFill>
                <a:latin typeface="Calibri"/>
              </a:rPr>
              <a:t> = m·a</a:t>
            </a:r>
            <a:r>
              <a:rPr sz="1800" b="0" baseline="-25000">
                <a:solidFill>
                  <a:srgbClr val="0B0B0B"/>
                </a:solidFill>
                <a:latin typeface="Calibri"/>
              </a:rPr>
              <a:t>y</a:t>
            </a:r>
            <a:r>
              <a:rPr sz="1800" b="0">
                <a:solidFill>
                  <a:srgbClr val="0B0B0B"/>
                </a:solidFill>
                <a:latin typeface="Calibri"/>
              </a:rPr>
              <a:t>·a / (L·C</a:t>
            </a:r>
            <a:r>
              <a:rPr sz="1800" b="0" baseline="-25000">
                <a:solidFill>
                  <a:srgbClr val="0B0B0B"/>
                </a:solidFill>
                <a:latin typeface="Calibri"/>
              </a:rPr>
              <a:t>r</a:t>
            </a:r>
            <a:r>
              <a:rPr sz="1800" b="0">
                <a:solidFill>
                  <a:srgbClr val="0B0B0B"/>
                </a:solidFill>
                <a:latin typeface="Calibri"/>
              </a:rPr>
              <a:t>).</a:t>
            </a:r>
          </a:p>
          <a:p>
            <a:pPr marL="205740" indent="-205740">
              <a:spcAft>
                <a:spcPts val="1000"/>
              </a:spcAft>
              <a:buChar char="•"/>
            </a:pPr>
            <a:r>
              <a:rPr sz="1800" b="0">
                <a:solidFill>
                  <a:srgbClr val="0B0B0B"/>
                </a:solidFill>
                <a:latin typeface="Calibri"/>
              </a:rPr>
              <a:t>The grip limit |F| ≤ μ·F</a:t>
            </a:r>
            <a:r>
              <a:rPr sz="1800" b="0" baseline="-25000">
                <a:solidFill>
                  <a:srgbClr val="0B0B0B"/>
                </a:solidFill>
                <a:latin typeface="Calibri"/>
              </a:rPr>
              <a:t>z</a:t>
            </a:r>
            <a:r>
              <a:rPr sz="1800" b="0">
                <a:solidFill>
                  <a:srgbClr val="0B0B0B"/>
                </a:solidFill>
                <a:latin typeface="Calibri"/>
              </a:rPr>
              <a:t> adds what the kinematic model cannot: a car that no longer follows the commanded curvature.</a:t>
            </a:r>
          </a:p>
        </p:txBody>
      </p:sp>
      <p:sp>
        <p:nvSpPr>
          <p:cNvPr id="6" name="Rectangle 5"/>
          <p:cNvSpPr/>
          <p:nvPr/>
        </p:nvSpPr>
        <p:spPr>
          <a:xfrm>
            <a:off x="6583680" y="1371600"/>
            <a:ext cx="5029200" cy="4069080"/>
          </a:xfrm>
          <a:prstGeom prst="rect">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0" y="1371600"/>
            <a:ext cx="82296" cy="4069080"/>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12280" y="1481328"/>
            <a:ext cx="4663440" cy="548640"/>
          </a:xfrm>
          <a:prstGeom prst="rect">
            <a:avLst/>
          </a:prstGeom>
          <a:noFill/>
        </p:spPr>
        <p:txBody>
          <a:bodyPr wrap="square" anchor="t" lIns="45720" rIns="45720" tIns="27432" bIns="27432">
            <a:spAutoFit/>
          </a:bodyPr>
          <a:lstStyle/>
          <a:p>
            <a:pPr>
              <a:spcAft>
                <a:spcPts val="0"/>
              </a:spcAft>
            </a:pPr>
            <a:r>
              <a:rPr sz="1800" b="1">
                <a:solidFill>
                  <a:srgbClr val="EB6834"/>
                </a:solidFill>
                <a:latin typeface="Calibri"/>
              </a:rPr>
              <a:t>Steady cornering</a:t>
            </a:r>
          </a:p>
        </p:txBody>
      </p:sp>
      <p:sp>
        <p:nvSpPr>
          <p:cNvPr id="9" name="TextBox 8"/>
          <p:cNvSpPr txBox="1"/>
          <p:nvPr/>
        </p:nvSpPr>
        <p:spPr>
          <a:xfrm>
            <a:off x="6812280" y="2057400"/>
            <a:ext cx="4663440" cy="3291840"/>
          </a:xfrm>
          <a:prstGeom prst="rect">
            <a:avLst/>
          </a:prstGeom>
          <a:noFill/>
        </p:spPr>
        <p:txBody>
          <a:bodyPr wrap="square" anchor="t" lIns="45720" rIns="45720" tIns="27432" bIns="27432">
            <a:spAutoFit/>
          </a:bodyPr>
          <a:lstStyle/>
          <a:p>
            <a:pPr>
              <a:spcAft>
                <a:spcPts val="600"/>
              </a:spcAft>
            </a:pPr>
            <a:r>
              <a:rPr sz="1600" b="0">
                <a:solidFill>
                  <a:srgbClr val="0B0B0B"/>
                </a:solidFill>
                <a:latin typeface="Calibri"/>
              </a:rPr>
              <a:t>δ = L / R + α</a:t>
            </a:r>
            <a:r>
              <a:rPr sz="1600" b="0" baseline="-25000">
                <a:solidFill>
                  <a:srgbClr val="0B0B0B"/>
                </a:solidFill>
                <a:latin typeface="Calibri"/>
              </a:rPr>
              <a:t>f</a:t>
            </a:r>
            <a:r>
              <a:rPr sz="1600" b="0">
                <a:solidFill>
                  <a:srgbClr val="0B0B0B"/>
                </a:solidFill>
                <a:latin typeface="Calibri"/>
              </a:rPr>
              <a:t> − α</a:t>
            </a:r>
            <a:r>
              <a:rPr sz="1600" b="0" baseline="-25000">
                <a:solidFill>
                  <a:srgbClr val="0B0B0B"/>
                </a:solidFill>
                <a:latin typeface="Calibri"/>
              </a:rPr>
              <a:t>r</a:t>
            </a:r>
            <a:r>
              <a:rPr sz="1600" b="0">
                <a:solidFill>
                  <a:srgbClr val="0B0B0B"/>
                </a:solidFill>
                <a:latin typeface="Calibri"/>
              </a:rPr>
              <a:t> = L / R + K·a</a:t>
            </a:r>
            <a:r>
              <a:rPr sz="1600" b="0" baseline="-25000">
                <a:solidFill>
                  <a:srgbClr val="0B0B0B"/>
                </a:solidFill>
                <a:latin typeface="Calibri"/>
              </a:rPr>
              <a:t>y</a:t>
            </a:r>
          </a:p>
          <a:p>
            <a:pPr>
              <a:spcAft>
                <a:spcPts val="600"/>
              </a:spcAft>
            </a:pPr>
            <a:r>
              <a:rPr sz="1600" b="0">
                <a:solidFill>
                  <a:srgbClr val="0B0B0B"/>
                </a:solidFill>
                <a:latin typeface="Calibri"/>
              </a:rPr>
              <a:t>K = (m / L)(b / C</a:t>
            </a:r>
            <a:r>
              <a:rPr sz="1600" b="0" baseline="-25000">
                <a:solidFill>
                  <a:srgbClr val="0B0B0B"/>
                </a:solidFill>
                <a:latin typeface="Calibri"/>
              </a:rPr>
              <a:t>f</a:t>
            </a:r>
            <a:r>
              <a:rPr sz="1600" b="0">
                <a:solidFill>
                  <a:srgbClr val="0B0B0B"/>
                </a:solidFill>
                <a:latin typeface="Calibri"/>
              </a:rPr>
              <a:t> − a / C</a:t>
            </a:r>
            <a:r>
              <a:rPr sz="1600" b="0" baseline="-25000">
                <a:solidFill>
                  <a:srgbClr val="0B0B0B"/>
                </a:solidFill>
                <a:latin typeface="Calibri"/>
              </a:rPr>
              <a:t>r</a:t>
            </a:r>
            <a:r>
              <a:rPr sz="1600" b="0">
                <a:solidFill>
                  <a:srgbClr val="0B0B0B"/>
                </a:solidFill>
                <a:latin typeface="Calibri"/>
              </a:rPr>
              <a:t>) = 0.0030 rad per m/s² (understeer)</a:t>
            </a:r>
          </a:p>
          <a:p>
            <a:pPr>
              <a:spcAft>
                <a:spcPts val="600"/>
              </a:spcAft>
            </a:pPr>
            <a:r>
              <a:rPr sz="1600" b="0">
                <a:solidFill>
                  <a:srgbClr val="0B0B0B"/>
                </a:solidFill>
                <a:latin typeface="Calibri"/>
              </a:rPr>
              <a:t>r = (v·δ / L) / (1 + K·v² / L)</a:t>
            </a:r>
          </a:p>
          <a:p>
            <a:pPr>
              <a:spcAft>
                <a:spcPts val="600"/>
              </a:spcAft>
            </a:pPr>
            <a:r>
              <a:rPr sz="1500" b="0">
                <a:solidFill>
                  <a:srgbClr val="52514E"/>
                </a:solidFill>
                <a:latin typeface="Calibri"/>
              </a:rPr>
              <a:t>Yaw rate is slightly lower than the kinematic v·tan δ / L, and the rear axle crabs by −α</a:t>
            </a:r>
            <a:r>
              <a:rPr sz="1500" b="0" baseline="-25000">
                <a:solidFill>
                  <a:srgbClr val="52514E"/>
                </a:solidFill>
                <a:latin typeface="Calibri"/>
              </a:rPr>
              <a:t>r</a:t>
            </a:r>
            <a:r>
              <a:rPr sz="1500" b="0">
                <a:solidFill>
                  <a:srgbClr val="52514E"/>
                </a:solidFill>
                <a:latin typeface="Calibri"/>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51560"/>
          </a:xfrm>
          <a:prstGeom prst="rect">
            <a:avLst/>
          </a:prstGeom>
          <a:noFill/>
        </p:spPr>
        <p:txBody>
          <a:bodyPr wrap="square" anchor="t" lIns="45720" rIns="45720" tIns="27432" bIns="27432">
            <a:spAutoFit/>
          </a:bodyPr>
          <a:lstStyle/>
          <a:p>
            <a:pPr>
              <a:spcAft>
                <a:spcPts val="0"/>
              </a:spcAft>
            </a:pPr>
            <a:r>
              <a:rPr sz="2800" b="1">
                <a:solidFill>
                  <a:srgbClr val="0B0B0B"/>
                </a:solidFill>
                <a:latin typeface="Calibri"/>
              </a:rPr>
              <a:t>At parking speed the slip is about a tenth of a degree; it only matters at several m/s</a:t>
            </a:r>
          </a:p>
        </p:txBody>
      </p:sp>
      <p:sp>
        <p:nvSpPr>
          <p:cNvPr id="3" name="TextBox 2"/>
          <p:cNvSpPr txBox="1"/>
          <p:nvPr/>
        </p:nvSpPr>
        <p:spPr>
          <a:xfrm>
            <a:off x="548640" y="6446520"/>
            <a:ext cx="7315200" cy="274320"/>
          </a:xfrm>
          <a:prstGeom prst="rect">
            <a:avLst/>
          </a:prstGeom>
          <a:noFill/>
        </p:spPr>
        <p:txBody>
          <a:bodyPr wrap="square" anchor="t" lIns="45720" rIns="45720" tIns="27432" bIns="27432">
            <a:spAutoFit/>
          </a:bodyPr>
          <a:lstStyle/>
          <a:p>
            <a:pPr>
              <a:spcAft>
                <a:spcPts val="0"/>
              </a:spcAft>
            </a:pPr>
            <a:r>
              <a:rPr sz="1000" b="0">
                <a:solidFill>
                  <a:srgbClr val="52514E"/>
                </a:solidFill>
                <a:latin typeface="Calibri"/>
              </a:rPr>
              <a:t>parking_sim · side slip: kinematic and dynamic bicycle model</a:t>
            </a:r>
          </a:p>
        </p:txBody>
      </p:sp>
      <p:sp>
        <p:nvSpPr>
          <p:cNvPr id="4" name="TextBox 3"/>
          <p:cNvSpPr txBox="1"/>
          <p:nvPr/>
        </p:nvSpPr>
        <p:spPr>
          <a:xfrm>
            <a:off x="10728655" y="6446520"/>
            <a:ext cx="914400" cy="274320"/>
          </a:xfrm>
          <a:prstGeom prst="rect">
            <a:avLst/>
          </a:prstGeom>
          <a:noFill/>
        </p:spPr>
        <p:txBody>
          <a:bodyPr wrap="square" anchor="t" lIns="45720" rIns="45720" tIns="27432" bIns="27432">
            <a:spAutoFit/>
          </a:bodyPr>
          <a:lstStyle/>
          <a:p>
            <a:pPr algn="r">
              <a:spcAft>
                <a:spcPts val="0"/>
              </a:spcAft>
            </a:pPr>
            <a:r>
              <a:rPr sz="1000" b="0">
                <a:solidFill>
                  <a:srgbClr val="52514E"/>
                </a:solidFill>
                <a:latin typeface="Calibri"/>
              </a:rPr>
              <a:t>9</a:t>
            </a:r>
          </a:p>
        </p:txBody>
      </p:sp>
      <p:pic>
        <p:nvPicPr>
          <p:cNvPr id="5" name="Picture 4" descr="alpha_vs_ay.png"/>
          <p:cNvPicPr>
            <a:picLocks noChangeAspect="1"/>
          </p:cNvPicPr>
          <p:nvPr/>
        </p:nvPicPr>
        <p:blipFill>
          <a:blip r:embed="rId2"/>
          <a:stretch>
            <a:fillRect/>
          </a:stretch>
        </p:blipFill>
        <p:spPr>
          <a:xfrm>
            <a:off x="548640" y="1280160"/>
            <a:ext cx="6766560" cy="4280781"/>
          </a:xfrm>
          <a:prstGeom prst="rect">
            <a:avLst/>
          </a:prstGeom>
        </p:spPr>
      </p:pic>
      <p:sp>
        <p:nvSpPr>
          <p:cNvPr id="6" name="Rectangle 5"/>
          <p:cNvSpPr/>
          <p:nvPr/>
        </p:nvSpPr>
        <p:spPr>
          <a:xfrm>
            <a:off x="7498079" y="1325880"/>
            <a:ext cx="4114800" cy="2057400"/>
          </a:xfrm>
          <a:prstGeom prst="rect">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79" y="1325880"/>
            <a:ext cx="82296" cy="2057400"/>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26679" y="1435607"/>
            <a:ext cx="3749039" cy="548640"/>
          </a:xfrm>
          <a:prstGeom prst="rect">
            <a:avLst/>
          </a:prstGeom>
          <a:noFill/>
        </p:spPr>
        <p:txBody>
          <a:bodyPr wrap="square" anchor="t" lIns="45720" rIns="45720" tIns="27432" bIns="27432">
            <a:spAutoFit/>
          </a:bodyPr>
          <a:lstStyle/>
          <a:p>
            <a:pPr>
              <a:spcAft>
                <a:spcPts val="0"/>
              </a:spcAft>
            </a:pPr>
            <a:r>
              <a:rPr sz="1800" b="1">
                <a:solidFill>
                  <a:srgbClr val="EB6834"/>
                </a:solidFill>
                <a:latin typeface="Calibri"/>
              </a:rPr>
              <a:t>Parking: 1 m/s, R = 5.3 m</a:t>
            </a:r>
          </a:p>
        </p:txBody>
      </p:sp>
      <p:sp>
        <p:nvSpPr>
          <p:cNvPr id="9" name="TextBox 8"/>
          <p:cNvSpPr txBox="1"/>
          <p:nvPr/>
        </p:nvSpPr>
        <p:spPr>
          <a:xfrm>
            <a:off x="7726679" y="2011680"/>
            <a:ext cx="3749039" cy="1280160"/>
          </a:xfrm>
          <a:prstGeom prst="rect">
            <a:avLst/>
          </a:prstGeom>
          <a:noFill/>
        </p:spPr>
        <p:txBody>
          <a:bodyPr wrap="square" anchor="t" lIns="45720" rIns="45720" tIns="27432" bIns="27432">
            <a:spAutoFit/>
          </a:bodyPr>
          <a:lstStyle/>
          <a:p>
            <a:pPr>
              <a:spcAft>
                <a:spcPts val="600"/>
              </a:spcAft>
            </a:pPr>
            <a:r>
              <a:rPr sz="1600" b="0">
                <a:solidFill>
                  <a:srgbClr val="0B0B0B"/>
                </a:solidFill>
                <a:latin typeface="Calibri"/>
              </a:rPr>
              <a:t>a</a:t>
            </a:r>
            <a:r>
              <a:rPr sz="1600" b="0" baseline="-25000">
                <a:solidFill>
                  <a:srgbClr val="0B0B0B"/>
                </a:solidFill>
                <a:latin typeface="Calibri"/>
              </a:rPr>
              <a:t>y</a:t>
            </a:r>
            <a:r>
              <a:rPr sz="1600" b="0">
                <a:solidFill>
                  <a:srgbClr val="0B0B0B"/>
                </a:solidFill>
                <a:latin typeface="Calibri"/>
              </a:rPr>
              <a:t> = 0.19 m/s²; α</a:t>
            </a:r>
            <a:r>
              <a:rPr sz="1600" b="0" baseline="-25000">
                <a:solidFill>
                  <a:srgbClr val="0B0B0B"/>
                </a:solidFill>
                <a:latin typeface="Calibri"/>
              </a:rPr>
              <a:t>r</a:t>
            </a:r>
            <a:r>
              <a:rPr sz="1600" b="0">
                <a:solidFill>
                  <a:srgbClr val="0B0B0B"/>
                </a:solidFill>
                <a:latin typeface="Calibri"/>
              </a:rPr>
              <a:t> = 0.08°</a:t>
            </a:r>
          </a:p>
          <a:p>
            <a:pPr>
              <a:spcAft>
                <a:spcPts val="600"/>
              </a:spcAft>
            </a:pPr>
            <a:r>
              <a:rPr sz="1600" b="0">
                <a:solidFill>
                  <a:srgbClr val="0B0B0B"/>
                </a:solidFill>
                <a:latin typeface="Calibri"/>
              </a:rPr>
              <a:t>crab ≈ 1.4 cm per 10 m</a:t>
            </a:r>
          </a:p>
        </p:txBody>
      </p:sp>
      <p:sp>
        <p:nvSpPr>
          <p:cNvPr id="10" name="Rectangle 9"/>
          <p:cNvSpPr/>
          <p:nvPr/>
        </p:nvSpPr>
        <p:spPr>
          <a:xfrm>
            <a:off x="7498079" y="3566160"/>
            <a:ext cx="4114800" cy="2057400"/>
          </a:xfrm>
          <a:prstGeom prst="rect">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98079" y="3566160"/>
            <a:ext cx="82296" cy="2057400"/>
          </a:xfrm>
          <a:prstGeom prst="rect">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3675888"/>
            <a:ext cx="3749039" cy="548640"/>
          </a:xfrm>
          <a:prstGeom prst="rect">
            <a:avLst/>
          </a:prstGeom>
          <a:noFill/>
        </p:spPr>
        <p:txBody>
          <a:bodyPr wrap="square" anchor="t" lIns="45720" rIns="45720" tIns="27432" bIns="27432">
            <a:spAutoFit/>
          </a:bodyPr>
          <a:lstStyle/>
          <a:p>
            <a:pPr>
              <a:spcAft>
                <a:spcPts val="0"/>
              </a:spcAft>
            </a:pPr>
            <a:r>
              <a:rPr sz="1800" b="1">
                <a:solidFill>
                  <a:srgbClr val="1BAF7A"/>
                </a:solidFill>
                <a:latin typeface="Calibri"/>
              </a:rPr>
              <a:t>Drive-by: 5 m/s, R = 8 m</a:t>
            </a:r>
          </a:p>
        </p:txBody>
      </p:sp>
      <p:sp>
        <p:nvSpPr>
          <p:cNvPr id="13" name="TextBox 12"/>
          <p:cNvSpPr txBox="1"/>
          <p:nvPr/>
        </p:nvSpPr>
        <p:spPr>
          <a:xfrm>
            <a:off x="7726679" y="4251960"/>
            <a:ext cx="3749039" cy="1280160"/>
          </a:xfrm>
          <a:prstGeom prst="rect">
            <a:avLst/>
          </a:prstGeom>
          <a:noFill/>
        </p:spPr>
        <p:txBody>
          <a:bodyPr wrap="square" anchor="t" lIns="45720" rIns="45720" tIns="27432" bIns="27432">
            <a:spAutoFit/>
          </a:bodyPr>
          <a:lstStyle/>
          <a:p>
            <a:pPr>
              <a:spcAft>
                <a:spcPts val="600"/>
              </a:spcAft>
            </a:pPr>
            <a:r>
              <a:rPr sz="1600" b="0">
                <a:solidFill>
                  <a:srgbClr val="0B0B0B"/>
                </a:solidFill>
                <a:latin typeface="Calibri"/>
              </a:rPr>
              <a:t>a</a:t>
            </a:r>
            <a:r>
              <a:rPr sz="1600" b="0" baseline="-25000">
                <a:solidFill>
                  <a:srgbClr val="0B0B0B"/>
                </a:solidFill>
                <a:latin typeface="Calibri"/>
              </a:rPr>
              <a:t>y</a:t>
            </a:r>
            <a:r>
              <a:rPr sz="1600" b="0">
                <a:solidFill>
                  <a:srgbClr val="0B0B0B"/>
                </a:solidFill>
                <a:latin typeface="Calibri"/>
              </a:rPr>
              <a:t> = 3.1 m/s²; α</a:t>
            </a:r>
            <a:r>
              <a:rPr sz="1600" b="0" baseline="-25000">
                <a:solidFill>
                  <a:srgbClr val="0B0B0B"/>
                </a:solidFill>
                <a:latin typeface="Calibri"/>
              </a:rPr>
              <a:t>r</a:t>
            </a:r>
            <a:r>
              <a:rPr sz="1600" b="0">
                <a:solidFill>
                  <a:srgbClr val="0B0B0B"/>
                </a:solidFill>
                <a:latin typeface="Calibri"/>
              </a:rPr>
              <a:t> = 1.3°</a:t>
            </a:r>
          </a:p>
          <a:p>
            <a:pPr>
              <a:spcAft>
                <a:spcPts val="600"/>
              </a:spcAft>
            </a:pPr>
            <a:r>
              <a:rPr sz="1600" b="0">
                <a:solidFill>
                  <a:srgbClr val="0B0B0B"/>
                </a:solidFill>
                <a:latin typeface="Calibri"/>
              </a:rPr>
              <a:t>crab ≈ 0.46 m per 20 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51560"/>
          </a:xfrm>
          <a:prstGeom prst="rect">
            <a:avLst/>
          </a:prstGeom>
          <a:noFill/>
        </p:spPr>
        <p:txBody>
          <a:bodyPr wrap="square" anchor="t" lIns="45720" rIns="45720" tIns="27432" bIns="27432">
            <a:spAutoFit/>
          </a:bodyPr>
          <a:lstStyle/>
          <a:p>
            <a:pPr>
              <a:spcAft>
                <a:spcPts val="0"/>
              </a:spcAft>
            </a:pPr>
            <a:r>
              <a:rPr sz="2800" b="1">
                <a:solidFill>
                  <a:srgbClr val="0B0B0B"/>
                </a:solidFill>
                <a:latin typeface="Calibri"/>
              </a:rPr>
              <a:t>Side by side: what each model contains and what it costs</a:t>
            </a:r>
          </a:p>
        </p:txBody>
      </p:sp>
      <p:sp>
        <p:nvSpPr>
          <p:cNvPr id="3" name="TextBox 2"/>
          <p:cNvSpPr txBox="1"/>
          <p:nvPr/>
        </p:nvSpPr>
        <p:spPr>
          <a:xfrm>
            <a:off x="548640" y="6446520"/>
            <a:ext cx="7315200" cy="274320"/>
          </a:xfrm>
          <a:prstGeom prst="rect">
            <a:avLst/>
          </a:prstGeom>
          <a:noFill/>
        </p:spPr>
        <p:txBody>
          <a:bodyPr wrap="square" anchor="t" lIns="45720" rIns="45720" tIns="27432" bIns="27432">
            <a:spAutoFit/>
          </a:bodyPr>
          <a:lstStyle/>
          <a:p>
            <a:pPr>
              <a:spcAft>
                <a:spcPts val="0"/>
              </a:spcAft>
            </a:pPr>
            <a:r>
              <a:rPr sz="1000" b="0">
                <a:solidFill>
                  <a:srgbClr val="52514E"/>
                </a:solidFill>
                <a:latin typeface="Calibri"/>
              </a:rPr>
              <a:t>parking_sim · side slip: kinematic and dynamic bicycle model</a:t>
            </a:r>
          </a:p>
        </p:txBody>
      </p:sp>
      <p:sp>
        <p:nvSpPr>
          <p:cNvPr id="4" name="TextBox 3"/>
          <p:cNvSpPr txBox="1"/>
          <p:nvPr/>
        </p:nvSpPr>
        <p:spPr>
          <a:xfrm>
            <a:off x="10728655" y="6446520"/>
            <a:ext cx="914400" cy="274320"/>
          </a:xfrm>
          <a:prstGeom prst="rect">
            <a:avLst/>
          </a:prstGeom>
          <a:noFill/>
        </p:spPr>
        <p:txBody>
          <a:bodyPr wrap="square" anchor="t" lIns="45720" rIns="45720" tIns="27432" bIns="27432">
            <a:spAutoFit/>
          </a:bodyPr>
          <a:lstStyle/>
          <a:p>
            <a:pPr algn="r">
              <a:spcAft>
                <a:spcPts val="0"/>
              </a:spcAft>
            </a:pPr>
            <a:r>
              <a:rPr sz="1000" b="0">
                <a:solidFill>
                  <a:srgbClr val="52514E"/>
                </a:solidFill>
                <a:latin typeface="Calibri"/>
              </a:rPr>
              <a:t>10</a:t>
            </a:r>
          </a:p>
        </p:txBody>
      </p:sp>
      <p:graphicFrame>
        <p:nvGraphicFramePr>
          <p:cNvPr id="5" name="Table 4"/>
          <p:cNvGraphicFramePr>
            <a:graphicFrameLocks noGrp="1"/>
          </p:cNvGraphicFramePr>
          <p:nvPr/>
        </p:nvGraphicFramePr>
        <p:xfrm>
          <a:off x="548640" y="1325880"/>
          <a:ext cx="11091672" cy="4236720"/>
        </p:xfrm>
        <a:graphic>
          <a:graphicData uri="http://schemas.openxmlformats.org/drawingml/2006/table">
            <a:tbl>
              <a:tblPr firstRow="1">
                <a:tableStyleId>{5C22544A-7EE6-4342-B048-85BDC9FD1C3A}</a:tableStyleId>
              </a:tblPr>
              <a:tblGrid>
                <a:gridCol w="1920240"/>
                <a:gridCol w="4389120"/>
                <a:gridCol w="4782312"/>
              </a:tblGrid>
              <a:tr h="359664">
                <a:tc>
                  <a:txBody>
                    <a:bodyPr wrap="square"/>
                    <a:lstStyle/>
                    <a:p/>
                  </a:txBody>
                  <a:tcPr marL="73152" marR="73152" marT="36576" marB="36576" anchor="ctr">
                    <a:solidFill>
                      <a:srgbClr val="2B2A28"/>
                    </a:solidFill>
                    <a:lnL w="0">
                      <a:noFill/>
                    </a:lnL>
                    <a:lnR w="0">
                      <a:noFill/>
                    </a:lnR>
                    <a:lnT w="0">
                      <a:noFill/>
                    </a:lnT>
                    <a:lnB w="9525">
                      <a:solidFill>
                        <a:srgbClr val="E4E3DF"/>
                      </a:solidFill>
                    </a:lnB>
                  </a:tcPr>
                </a:tc>
                <a:tc>
                  <a:txBody>
                    <a:bodyPr wrap="square"/>
                    <a:lstStyle/>
                    <a:p>
                      <a:r>
                        <a:rPr sz="1400" b="1">
                          <a:solidFill>
                            <a:srgbClr val="FFFFFF"/>
                          </a:solidFill>
                          <a:latin typeface="Calibri"/>
                        </a:rPr>
                        <a:t>Kinematic bicycle</a:t>
                      </a:r>
                    </a:p>
                  </a:txBody>
                  <a:tcPr marL="73152" marR="73152" marT="36576" marB="36576" anchor="ctr">
                    <a:solidFill>
                      <a:srgbClr val="2B2A28"/>
                    </a:solidFill>
                    <a:lnL w="0">
                      <a:noFill/>
                    </a:lnL>
                    <a:lnR w="0">
                      <a:noFill/>
                    </a:lnR>
                    <a:lnT w="0">
                      <a:noFill/>
                    </a:lnT>
                    <a:lnB w="9525">
                      <a:solidFill>
                        <a:srgbClr val="E4E3DF"/>
                      </a:solidFill>
                    </a:lnB>
                  </a:tcPr>
                </a:tc>
                <a:tc>
                  <a:txBody>
                    <a:bodyPr wrap="square"/>
                    <a:lstStyle/>
                    <a:p>
                      <a:r>
                        <a:rPr sz="1400" b="1">
                          <a:solidFill>
                            <a:srgbClr val="FFFFFF"/>
                          </a:solidFill>
                          <a:latin typeface="Calibri"/>
                        </a:rPr>
                        <a:t>Dynamic bicycle</a:t>
                      </a:r>
                    </a:p>
                  </a:txBody>
                  <a:tcPr marL="73152" marR="73152" marT="36576" marB="36576" anchor="ctr">
                    <a:solidFill>
                      <a:srgbClr val="2B2A28"/>
                    </a:solidFill>
                    <a:lnL w="0">
                      <a:noFill/>
                    </a:lnL>
                    <a:lnR w="0">
                      <a:noFill/>
                    </a:lnR>
                    <a:lnT w="0">
                      <a:noFill/>
                    </a:lnT>
                    <a:lnB w="9525">
                      <a:solidFill>
                        <a:srgbClr val="E4E3DF"/>
                      </a:solidFill>
                    </a:lnB>
                  </a:tcPr>
                </a:tc>
              </a:tr>
              <a:tr h="573024">
                <a:tc>
                  <a:txBody>
                    <a:bodyPr wrap="square"/>
                    <a:lstStyle/>
                    <a:p>
                      <a:r>
                        <a:rPr sz="1400" b="1">
                          <a:solidFill>
                            <a:srgbClr val="0B0B0B"/>
                          </a:solidFill>
                          <a:latin typeface="Calibri"/>
                        </a:rPr>
                        <a:t>States</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x, y, ψ, v</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x, y, ψ, v</a:t>
                      </a:r>
                      <a:r>
                        <a:rPr sz="1400" b="0" baseline="-25000">
                          <a:solidFill>
                            <a:srgbClr val="0B0B0B"/>
                          </a:solidFill>
                          <a:latin typeface="Calibri"/>
                        </a:rPr>
                        <a:t>x</a:t>
                      </a:r>
                      <a:r>
                        <a:rPr sz="1400" b="0">
                          <a:solidFill>
                            <a:srgbClr val="0B0B0B"/>
                          </a:solidFill>
                          <a:latin typeface="Calibri"/>
                        </a:rPr>
                        <a:t>, v</a:t>
                      </a:r>
                      <a:r>
                        <a:rPr sz="1400" b="0" baseline="-25000">
                          <a:solidFill>
                            <a:srgbClr val="0B0B0B"/>
                          </a:solidFill>
                          <a:latin typeface="Calibri"/>
                        </a:rPr>
                        <a:t>y</a:t>
                      </a:r>
                      <a:r>
                        <a:rPr sz="1400" b="0">
                          <a:solidFill>
                            <a:srgbClr val="0B0B0B"/>
                          </a:solidFill>
                          <a:latin typeface="Calibri"/>
                        </a:rPr>
                        <a:t>, r (+ 2 tire deflections in option B)</a:t>
                      </a:r>
                    </a:p>
                  </a:txBody>
                  <a:tcPr marL="73152" marR="73152" marT="36576" marB="36576" anchor="ctr">
                    <a:solidFill>
                      <a:srgbClr val="FFFFFF"/>
                    </a:solidFill>
                    <a:lnL w="0">
                      <a:noFill/>
                    </a:lnL>
                    <a:lnR w="0">
                      <a:noFill/>
                    </a:lnR>
                    <a:lnT w="0">
                      <a:noFill/>
                    </a:lnT>
                    <a:lnB w="9525">
                      <a:solidFill>
                        <a:srgbClr val="E4E3DF"/>
                      </a:solidFill>
                    </a:lnB>
                  </a:tcPr>
                </a:tc>
              </a:tr>
              <a:tr h="359664">
                <a:tc>
                  <a:txBody>
                    <a:bodyPr wrap="square"/>
                    <a:lstStyle/>
                    <a:p>
                      <a:r>
                        <a:rPr sz="1400" b="1">
                          <a:solidFill>
                            <a:srgbClr val="0B0B0B"/>
                          </a:solidFill>
                          <a:latin typeface="Calibri"/>
                        </a:rPr>
                        <a:t>Parameters</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L</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 m, I</a:t>
                      </a:r>
                      <a:r>
                        <a:rPr sz="1400" b="0" baseline="-25000">
                          <a:solidFill>
                            <a:srgbClr val="0B0B0B"/>
                          </a:solidFill>
                          <a:latin typeface="Calibri"/>
                        </a:rPr>
                        <a:t>z</a:t>
                      </a:r>
                      <a:r>
                        <a:rPr sz="1400" b="0">
                          <a:solidFill>
                            <a:srgbClr val="0B0B0B"/>
                          </a:solidFill>
                          <a:latin typeface="Calibri"/>
                        </a:rPr>
                        <a:t>, a, b, C</a:t>
                      </a:r>
                      <a:r>
                        <a:rPr sz="1400" b="0" baseline="-25000">
                          <a:solidFill>
                            <a:srgbClr val="0B0B0B"/>
                          </a:solidFill>
                          <a:latin typeface="Calibri"/>
                        </a:rPr>
                        <a:t>f</a:t>
                      </a:r>
                      <a:r>
                        <a:rPr sz="1400" b="0">
                          <a:solidFill>
                            <a:srgbClr val="0B0B0B"/>
                          </a:solidFill>
                          <a:latin typeface="Calibri"/>
                        </a:rPr>
                        <a:t>, C</a:t>
                      </a:r>
                      <a:r>
                        <a:rPr sz="1400" b="0" baseline="-25000">
                          <a:solidFill>
                            <a:srgbClr val="0B0B0B"/>
                          </a:solidFill>
                          <a:latin typeface="Calibri"/>
                        </a:rPr>
                        <a:t>r</a:t>
                      </a:r>
                      <a:r>
                        <a:rPr sz="1400" b="0">
                          <a:solidFill>
                            <a:srgbClr val="0B0B0B"/>
                          </a:solidFill>
                          <a:latin typeface="Calibri"/>
                        </a:rPr>
                        <a:t>, μ (+ relaxation length in B)</a:t>
                      </a:r>
                    </a:p>
                  </a:txBody>
                  <a:tcPr marL="73152" marR="73152" marT="36576" marB="36576" anchor="ctr">
                    <a:solidFill>
                      <a:srgbClr val="FFFFFF"/>
                    </a:solidFill>
                    <a:lnL w="0">
                      <a:noFill/>
                    </a:lnL>
                    <a:lnR w="0">
                      <a:noFill/>
                    </a:lnR>
                    <a:lnT w="0">
                      <a:noFill/>
                    </a:lnT>
                    <a:lnB w="9525">
                      <a:solidFill>
                        <a:srgbClr val="E4E3DF"/>
                      </a:solidFill>
                    </a:lnB>
                  </a:tcPr>
                </a:tc>
              </a:tr>
              <a:tr h="359664">
                <a:tc>
                  <a:txBody>
                    <a:bodyPr wrap="square"/>
                    <a:lstStyle/>
                    <a:p>
                      <a:r>
                        <a:rPr sz="1400" b="1">
                          <a:solidFill>
                            <a:srgbClr val="0B0B0B"/>
                          </a:solidFill>
                          <a:latin typeface="Calibri"/>
                        </a:rPr>
                        <a:t>Tire slip</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zero by construction</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computed from the states</a:t>
                      </a:r>
                    </a:p>
                  </a:txBody>
                  <a:tcPr marL="73152" marR="73152" marT="36576" marB="36576" anchor="ctr">
                    <a:solidFill>
                      <a:srgbClr val="FFFFFF"/>
                    </a:solidFill>
                    <a:lnL w="0">
                      <a:noFill/>
                    </a:lnL>
                    <a:lnR w="0">
                      <a:noFill/>
                    </a:lnR>
                    <a:lnT w="0">
                      <a:noFill/>
                    </a:lnT>
                    <a:lnB w="9525">
                      <a:solidFill>
                        <a:srgbClr val="E4E3DF"/>
                      </a:solidFill>
                    </a:lnB>
                  </a:tcPr>
                </a:tc>
              </a:tr>
              <a:tr h="359664">
                <a:tc>
                  <a:txBody>
                    <a:bodyPr wrap="square"/>
                    <a:lstStyle/>
                    <a:p>
                      <a:r>
                        <a:rPr sz="1400" b="1">
                          <a:solidFill>
                            <a:srgbClr val="0B0B0B"/>
                          </a:solidFill>
                          <a:latin typeface="Calibri"/>
                        </a:rPr>
                        <a:t>Lateral force</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none</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linear in the slip, clamped at μ·F</a:t>
                      </a:r>
                      <a:r>
                        <a:rPr sz="1400" b="0" baseline="-25000">
                          <a:solidFill>
                            <a:srgbClr val="0B0B0B"/>
                          </a:solidFill>
                          <a:latin typeface="Calibri"/>
                        </a:rPr>
                        <a:t>z</a:t>
                      </a:r>
                    </a:p>
                  </a:txBody>
                  <a:tcPr marL="73152" marR="73152" marT="36576" marB="36576" anchor="ctr">
                    <a:solidFill>
                      <a:srgbClr val="FFFFFF"/>
                    </a:solidFill>
                    <a:lnL w="0">
                      <a:noFill/>
                    </a:lnL>
                    <a:lnR w="0">
                      <a:noFill/>
                    </a:lnR>
                    <a:lnT w="0">
                      <a:noFill/>
                    </a:lnT>
                    <a:lnB w="9525">
                      <a:solidFill>
                        <a:srgbClr val="E4E3DF"/>
                      </a:solidFill>
                    </a:lnB>
                  </a:tcPr>
                </a:tc>
              </a:tr>
              <a:tr h="359664">
                <a:tc>
                  <a:txBody>
                    <a:bodyPr wrap="square"/>
                    <a:lstStyle/>
                    <a:p>
                      <a:r>
                        <a:rPr sz="1400" b="1">
                          <a:solidFill>
                            <a:srgbClr val="0B0B0B"/>
                          </a:solidFill>
                          <a:latin typeface="Calibri"/>
                        </a:rPr>
                        <a:t>Grip limit</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none: any curvature is followed</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understeer, then sliding beyond μ·g</a:t>
                      </a:r>
                    </a:p>
                  </a:txBody>
                  <a:tcPr marL="73152" marR="73152" marT="36576" marB="36576" anchor="ctr">
                    <a:solidFill>
                      <a:srgbClr val="FFFFFF"/>
                    </a:solidFill>
                    <a:lnL w="0">
                      <a:noFill/>
                    </a:lnL>
                    <a:lnR w="0">
                      <a:noFill/>
                    </a:lnR>
                    <a:lnT w="0">
                      <a:noFill/>
                    </a:lnT>
                    <a:lnB w="9525">
                      <a:solidFill>
                        <a:srgbClr val="E4E3DF"/>
                      </a:solidFill>
                    </a:lnB>
                  </a:tcPr>
                </a:tc>
              </a:tr>
              <a:tr h="359664">
                <a:tc>
                  <a:txBody>
                    <a:bodyPr wrap="square"/>
                    <a:lstStyle/>
                    <a:p>
                      <a:r>
                        <a:rPr sz="1400" b="1">
                          <a:solidFill>
                            <a:srgbClr val="0B0B0B"/>
                          </a:solidFill>
                          <a:latin typeface="Calibri"/>
                        </a:rPr>
                        <a:t>Reverse</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only the sign of v</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slip uses |v</a:t>
                      </a:r>
                      <a:r>
                        <a:rPr sz="1400" b="0" baseline="-25000">
                          <a:solidFill>
                            <a:srgbClr val="0B0B0B"/>
                          </a:solidFill>
                          <a:latin typeface="Calibri"/>
                        </a:rPr>
                        <a:t>long</a:t>
                      </a:r>
                      <a:r>
                        <a:rPr sz="1400" b="0">
                          <a:solidFill>
                            <a:srgbClr val="0B0B0B"/>
                          </a:solidFill>
                          <a:latin typeface="Calibri"/>
                        </a:rPr>
                        <a:t>|; sign relations tested separately</a:t>
                      </a:r>
                    </a:p>
                  </a:txBody>
                  <a:tcPr marL="73152" marR="73152" marT="36576" marB="36576" anchor="ctr">
                    <a:solidFill>
                      <a:srgbClr val="FFFFFF"/>
                    </a:solidFill>
                    <a:lnL w="0">
                      <a:noFill/>
                    </a:lnL>
                    <a:lnR w="0">
                      <a:noFill/>
                    </a:lnR>
                    <a:lnT w="0">
                      <a:noFill/>
                    </a:lnT>
                    <a:lnB w="9525">
                      <a:solidFill>
                        <a:srgbClr val="E4E3DF"/>
                      </a:solidFill>
                    </a:lnB>
                  </a:tcPr>
                </a:tc>
              </a:tr>
              <a:tr h="573024">
                <a:tc>
                  <a:txBody>
                    <a:bodyPr wrap="square"/>
                    <a:lstStyle/>
                    <a:p>
                      <a:r>
                        <a:rPr sz="1400" b="1">
                          <a:solidFill>
                            <a:srgbClr val="0B0B0B"/>
                          </a:solidFill>
                          <a:latin typeface="Calibri"/>
                        </a:rPr>
                        <a:t>Standstill</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trivial</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needs deflection states or a blend to be well defined</a:t>
                      </a:r>
                    </a:p>
                  </a:txBody>
                  <a:tcPr marL="73152" marR="73152" marT="36576" marB="36576" anchor="ctr">
                    <a:solidFill>
                      <a:srgbClr val="FFFFFF"/>
                    </a:solidFill>
                    <a:lnL w="0">
                      <a:noFill/>
                    </a:lnL>
                    <a:lnR w="0">
                      <a:noFill/>
                    </a:lnR>
                    <a:lnT w="0">
                      <a:noFill/>
                    </a:lnT>
                    <a:lnB w="9525">
                      <a:solidFill>
                        <a:srgbClr val="E4E3DF"/>
                      </a:solidFill>
                    </a:lnB>
                  </a:tcPr>
                </a:tc>
              </a:tr>
              <a:tr h="573024">
                <a:tc>
                  <a:txBody>
                    <a:bodyPr wrap="square"/>
                    <a:lstStyle/>
                    <a:p>
                      <a:r>
                        <a:rPr sz="1400" b="1">
                          <a:solidFill>
                            <a:srgbClr val="0B0B0B"/>
                          </a:solidFill>
                          <a:latin typeface="Calibri"/>
                        </a:rPr>
                        <a:t>Integration</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RK4 at 10 ms, no issue</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stiff below about 0.4 m/s with slip-based forces (A)</a:t>
                      </a:r>
                    </a:p>
                  </a:txBody>
                  <a:tcPr marL="73152" marR="73152" marT="36576" marB="36576" anchor="ctr">
                    <a:solidFill>
                      <a:srgbClr val="FFFFFF"/>
                    </a:solidFill>
                    <a:lnL w="0">
                      <a:noFill/>
                    </a:lnL>
                    <a:lnR w="0">
                      <a:noFill/>
                    </a:lnR>
                    <a:lnT w="0">
                      <a:noFill/>
                    </a:lnT>
                    <a:lnB w="9525">
                      <a:solidFill>
                        <a:srgbClr val="E4E3DF"/>
                      </a:solidFill>
                    </a:lnB>
                  </a:tcPr>
                </a:tc>
              </a:tr>
              <a:tr h="359664">
                <a:tc>
                  <a:txBody>
                    <a:bodyPr wrap="square"/>
                    <a:lstStyle/>
                    <a:p>
                      <a:r>
                        <a:rPr sz="1400" b="1">
                          <a:solidFill>
                            <a:srgbClr val="0B0B0B"/>
                          </a:solidFill>
                          <a:latin typeface="Calibri"/>
                        </a:rPr>
                        <a:t>Right for</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low lateral acceleration: parking</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up to saturation; linear tire to about 5°</a:t>
                      </a:r>
                    </a:p>
                  </a:txBody>
                  <a:tcPr marL="73152" marR="73152" marT="36576" marB="36576" anchor="ctr">
                    <a:solidFill>
                      <a:srgbClr val="FFFFFF"/>
                    </a:solidFill>
                    <a:lnL w="0">
                      <a:noFill/>
                    </a:lnL>
                    <a:lnR w="0">
                      <a:noFill/>
                    </a:lnR>
                    <a:lnT w="0">
                      <a:noFill/>
                    </a:lnT>
                    <a:lnB w="9525">
                      <a:solidFill>
                        <a:srgbClr val="E4E3DF"/>
                      </a:solidFill>
                    </a:lnB>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51560"/>
          </a:xfrm>
          <a:prstGeom prst="rect">
            <a:avLst/>
          </a:prstGeom>
          <a:noFill/>
        </p:spPr>
        <p:txBody>
          <a:bodyPr wrap="square" anchor="t" lIns="45720" rIns="45720" tIns="27432" bIns="27432">
            <a:spAutoFit/>
          </a:bodyPr>
          <a:lstStyle/>
          <a:p>
            <a:pPr>
              <a:spcAft>
                <a:spcPts val="0"/>
              </a:spcAft>
            </a:pPr>
            <a:r>
              <a:rPr sz="2800" b="1">
                <a:solidFill>
                  <a:srgbClr val="0B0B0B"/>
                </a:solidFill>
                <a:latin typeface="Calibri"/>
              </a:rPr>
              <a:t>Caveat 1: slip-based tire forces are singular and stiff at low speed</a:t>
            </a:r>
          </a:p>
        </p:txBody>
      </p:sp>
      <p:sp>
        <p:nvSpPr>
          <p:cNvPr id="3" name="TextBox 2"/>
          <p:cNvSpPr txBox="1"/>
          <p:nvPr/>
        </p:nvSpPr>
        <p:spPr>
          <a:xfrm>
            <a:off x="548640" y="6446520"/>
            <a:ext cx="7315200" cy="274320"/>
          </a:xfrm>
          <a:prstGeom prst="rect">
            <a:avLst/>
          </a:prstGeom>
          <a:noFill/>
        </p:spPr>
        <p:txBody>
          <a:bodyPr wrap="square" anchor="t" lIns="45720" rIns="45720" tIns="27432" bIns="27432">
            <a:spAutoFit/>
          </a:bodyPr>
          <a:lstStyle/>
          <a:p>
            <a:pPr>
              <a:spcAft>
                <a:spcPts val="0"/>
              </a:spcAft>
            </a:pPr>
            <a:r>
              <a:rPr sz="1000" b="0">
                <a:solidFill>
                  <a:srgbClr val="52514E"/>
                </a:solidFill>
                <a:latin typeface="Calibri"/>
              </a:rPr>
              <a:t>parking_sim · side slip: kinematic and dynamic bicycle model</a:t>
            </a:r>
          </a:p>
        </p:txBody>
      </p:sp>
      <p:sp>
        <p:nvSpPr>
          <p:cNvPr id="4" name="TextBox 3"/>
          <p:cNvSpPr txBox="1"/>
          <p:nvPr/>
        </p:nvSpPr>
        <p:spPr>
          <a:xfrm>
            <a:off x="10728655" y="6446520"/>
            <a:ext cx="914400" cy="274320"/>
          </a:xfrm>
          <a:prstGeom prst="rect">
            <a:avLst/>
          </a:prstGeom>
          <a:noFill/>
        </p:spPr>
        <p:txBody>
          <a:bodyPr wrap="square" anchor="t" lIns="45720" rIns="45720" tIns="27432" bIns="27432">
            <a:spAutoFit/>
          </a:bodyPr>
          <a:lstStyle/>
          <a:p>
            <a:pPr algn="r">
              <a:spcAft>
                <a:spcPts val="0"/>
              </a:spcAft>
            </a:pPr>
            <a:r>
              <a:rPr sz="1000" b="0">
                <a:solidFill>
                  <a:srgbClr val="52514E"/>
                </a:solidFill>
                <a:latin typeface="Calibri"/>
              </a:rPr>
              <a:t>11</a:t>
            </a:r>
          </a:p>
        </p:txBody>
      </p:sp>
      <p:pic>
        <p:nvPicPr>
          <p:cNvPr id="5" name="Picture 4" descr="stiffness.png"/>
          <p:cNvPicPr>
            <a:picLocks noChangeAspect="1"/>
          </p:cNvPicPr>
          <p:nvPr/>
        </p:nvPicPr>
        <p:blipFill>
          <a:blip r:embed="rId2"/>
          <a:stretch>
            <a:fillRect/>
          </a:stretch>
        </p:blipFill>
        <p:spPr>
          <a:xfrm>
            <a:off x="548640" y="1280160"/>
            <a:ext cx="6766560" cy="4393870"/>
          </a:xfrm>
          <a:prstGeom prst="rect">
            <a:avLst/>
          </a:prstGeom>
        </p:spPr>
      </p:pic>
      <p:sp>
        <p:nvSpPr>
          <p:cNvPr id="6" name="TextBox 5"/>
          <p:cNvSpPr txBox="1"/>
          <p:nvPr/>
        </p:nvSpPr>
        <p:spPr>
          <a:xfrm>
            <a:off x="7498079" y="1325880"/>
            <a:ext cx="4160520" cy="4572000"/>
          </a:xfrm>
          <a:prstGeom prst="rect">
            <a:avLst/>
          </a:prstGeom>
          <a:noFill/>
        </p:spPr>
        <p:txBody>
          <a:bodyPr wrap="square" anchor="t" lIns="45720" rIns="45720" tIns="27432" bIns="27432">
            <a:spAutoFit/>
          </a:bodyPr>
          <a:lstStyle/>
          <a:p>
            <a:pPr marL="182880" indent="-182880">
              <a:spcAft>
                <a:spcPts val="800"/>
              </a:spcAft>
              <a:buChar char="•"/>
            </a:pPr>
            <a:r>
              <a:rPr sz="1600" b="0">
                <a:solidFill>
                  <a:srgbClr val="0B0B0B"/>
                </a:solidFill>
                <a:latin typeface="Calibri"/>
              </a:rPr>
              <a:t>Fast mode ≈ (C</a:t>
            </a:r>
            <a:r>
              <a:rPr sz="1600" b="0" baseline="-25000">
                <a:solidFill>
                  <a:srgbClr val="0B0B0B"/>
                </a:solidFill>
                <a:latin typeface="Calibri"/>
              </a:rPr>
              <a:t>f</a:t>
            </a:r>
            <a:r>
              <a:rPr sz="1600" b="0">
                <a:solidFill>
                  <a:srgbClr val="0B0B0B"/>
                </a:solidFill>
                <a:latin typeface="Calibri"/>
              </a:rPr>
              <a:t> + C</a:t>
            </a:r>
            <a:r>
              <a:rPr sz="1600" b="0" baseline="-25000">
                <a:solidFill>
                  <a:srgbClr val="0B0B0B"/>
                </a:solidFill>
                <a:latin typeface="Calibri"/>
              </a:rPr>
              <a:t>r</a:t>
            </a:r>
            <a:r>
              <a:rPr sz="1600" b="0">
                <a:solidFill>
                  <a:srgbClr val="0B0B0B"/>
                </a:solidFill>
                <a:latin typeface="Calibri"/>
              </a:rPr>
              <a:t>) / (m·v): 113 1/s at 1 m/s, 1133 1/s at 0.1 m/s.</a:t>
            </a:r>
          </a:p>
          <a:p>
            <a:pPr marL="182880" indent="-182880">
              <a:spcAft>
                <a:spcPts val="800"/>
              </a:spcAft>
              <a:buChar char="•"/>
            </a:pPr>
            <a:r>
              <a:rPr sz="1600" b="0">
                <a:solidFill>
                  <a:srgbClr val="0B0B0B"/>
                </a:solidFill>
                <a:latin typeface="Calibri"/>
              </a:rPr>
              <a:t>RK4 at 10 ms is unstable below 0.41 m/s. Our maneuvers end at 0.1 m/s and change gear at rest.</a:t>
            </a:r>
          </a:p>
          <a:p>
            <a:pPr marL="182880" indent="-182880">
              <a:spcAft>
                <a:spcPts val="800"/>
              </a:spcAft>
              <a:buChar char="•"/>
            </a:pPr>
            <a:r>
              <a:rPr sz="1600" b="0">
                <a:solidFill>
                  <a:srgbClr val="0B0B0B"/>
                </a:solidFill>
                <a:latin typeface="Calibri"/>
              </a:rPr>
              <a:t>(A) blend with the kinematic model below a threshold: simple, but the threshold must sit under about 0.2 m/s to keep the model active.</a:t>
            </a:r>
          </a:p>
          <a:p>
            <a:pPr marL="182880" indent="-182880">
              <a:spcAft>
                <a:spcPts val="800"/>
              </a:spcAft>
              <a:buChar char="•"/>
            </a:pPr>
            <a:r>
              <a:rPr sz="1600" b="0">
                <a:solidFill>
                  <a:srgbClr val="0B0B0B"/>
                </a:solidFill>
                <a:latin typeface="Calibri"/>
              </a:rPr>
              <a:t>(B) tire deflection states with a relaxation length: a fixed spring rate, no switch. </a:t>
            </a:r>
            <a:r>
              <a:rPr sz="1600" b="1">
                <a:solidFill>
                  <a:srgbClr val="0B0B0B"/>
                </a:solidFill>
                <a:latin typeface="Calibri"/>
              </a:rPr>
              <a:t>Recommended.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51560"/>
          </a:xfrm>
          <a:prstGeom prst="rect">
            <a:avLst/>
          </a:prstGeom>
          <a:noFill/>
        </p:spPr>
        <p:txBody>
          <a:bodyPr wrap="square" anchor="t" lIns="45720" rIns="45720" tIns="27432" bIns="27432">
            <a:spAutoFit/>
          </a:bodyPr>
          <a:lstStyle/>
          <a:p>
            <a:pPr>
              <a:spcAft>
                <a:spcPts val="0"/>
              </a:spcAft>
            </a:pPr>
            <a:r>
              <a:rPr sz="2800" b="1">
                <a:solidFill>
                  <a:srgbClr val="0B0B0B"/>
                </a:solidFill>
                <a:latin typeface="Calibri"/>
              </a:rPr>
              <a:t>Caveat 2: the ECU's kinematic yaw-rate model stays good at parking speed and breaks from about 3 m/s</a:t>
            </a:r>
          </a:p>
        </p:txBody>
      </p:sp>
      <p:sp>
        <p:nvSpPr>
          <p:cNvPr id="3" name="TextBox 2"/>
          <p:cNvSpPr txBox="1"/>
          <p:nvPr/>
        </p:nvSpPr>
        <p:spPr>
          <a:xfrm>
            <a:off x="548640" y="6446520"/>
            <a:ext cx="7315200" cy="274320"/>
          </a:xfrm>
          <a:prstGeom prst="rect">
            <a:avLst/>
          </a:prstGeom>
          <a:noFill/>
        </p:spPr>
        <p:txBody>
          <a:bodyPr wrap="square" anchor="t" lIns="45720" rIns="45720" tIns="27432" bIns="27432">
            <a:spAutoFit/>
          </a:bodyPr>
          <a:lstStyle/>
          <a:p>
            <a:pPr>
              <a:spcAft>
                <a:spcPts val="0"/>
              </a:spcAft>
            </a:pPr>
            <a:r>
              <a:rPr sz="1000" b="0">
                <a:solidFill>
                  <a:srgbClr val="52514E"/>
                </a:solidFill>
                <a:latin typeface="Calibri"/>
              </a:rPr>
              <a:t>parking_sim · side slip: kinematic and dynamic bicycle model</a:t>
            </a:r>
          </a:p>
        </p:txBody>
      </p:sp>
      <p:sp>
        <p:nvSpPr>
          <p:cNvPr id="4" name="TextBox 3"/>
          <p:cNvSpPr txBox="1"/>
          <p:nvPr/>
        </p:nvSpPr>
        <p:spPr>
          <a:xfrm>
            <a:off x="10728655" y="6446520"/>
            <a:ext cx="914400" cy="274320"/>
          </a:xfrm>
          <a:prstGeom prst="rect">
            <a:avLst/>
          </a:prstGeom>
          <a:noFill/>
        </p:spPr>
        <p:txBody>
          <a:bodyPr wrap="square" anchor="t" lIns="45720" rIns="45720" tIns="27432" bIns="27432">
            <a:spAutoFit/>
          </a:bodyPr>
          <a:lstStyle/>
          <a:p>
            <a:pPr algn="r">
              <a:spcAft>
                <a:spcPts val="0"/>
              </a:spcAft>
            </a:pPr>
            <a:r>
              <a:rPr sz="1000" b="0">
                <a:solidFill>
                  <a:srgbClr val="52514E"/>
                </a:solidFill>
                <a:latin typeface="Calibri"/>
              </a:rPr>
              <a:t>12</a:t>
            </a:r>
          </a:p>
        </p:txBody>
      </p:sp>
      <p:pic>
        <p:nvPicPr>
          <p:cNvPr id="5" name="Picture 4" descr="ecu_error.png"/>
          <p:cNvPicPr>
            <a:picLocks noChangeAspect="1"/>
          </p:cNvPicPr>
          <p:nvPr/>
        </p:nvPicPr>
        <p:blipFill>
          <a:blip r:embed="rId2"/>
          <a:stretch>
            <a:fillRect/>
          </a:stretch>
        </p:blipFill>
        <p:spPr>
          <a:xfrm>
            <a:off x="548640" y="1280160"/>
            <a:ext cx="6400800" cy="4028738"/>
          </a:xfrm>
          <a:prstGeom prst="rect">
            <a:avLst/>
          </a:prstGeom>
        </p:spPr>
      </p:pic>
      <p:sp>
        <p:nvSpPr>
          <p:cNvPr id="6" name="TextBox 5"/>
          <p:cNvSpPr txBox="1"/>
          <p:nvPr/>
        </p:nvSpPr>
        <p:spPr>
          <a:xfrm>
            <a:off x="7223760" y="1325880"/>
            <a:ext cx="4434840" cy="4572000"/>
          </a:xfrm>
          <a:prstGeom prst="rect">
            <a:avLst/>
          </a:prstGeom>
          <a:noFill/>
        </p:spPr>
        <p:txBody>
          <a:bodyPr wrap="square" anchor="t" lIns="45720" rIns="45720" tIns="27432" bIns="27432">
            <a:spAutoFit/>
          </a:bodyPr>
          <a:lstStyle/>
          <a:p>
            <a:pPr marL="182880" indent="-182880">
              <a:spcAft>
                <a:spcPts val="800"/>
              </a:spcAft>
              <a:buChar char="•"/>
            </a:pPr>
            <a:r>
              <a:rPr sz="1600" b="0">
                <a:solidFill>
                  <a:srgbClr val="0B0B0B"/>
                </a:solidFill>
                <a:latin typeface="Calibri"/>
              </a:rPr>
              <a:t>The EKF's steering update predicts r = bias + v·tan δ / L. The dynamic yaw rate is 2.7 % lower at 5 m/s (0.017 rad/s) but only 0.11 % at 1 m/s.</a:t>
            </a:r>
          </a:p>
          <a:p>
            <a:pPr marL="182880" indent="-182880">
              <a:spcAft>
                <a:spcPts val="800"/>
              </a:spcAft>
              <a:buChar char="•"/>
            </a:pPr>
            <a:r>
              <a:rPr sz="1600" b="0">
                <a:solidFill>
                  <a:srgbClr val="0B0B0B"/>
                </a:solidFill>
                <a:latin typeface="Calibri"/>
              </a:rPr>
              <a:t>steer_model_sigma = 0.003 rad/s: exceeded from about 2.8 m/s. The gate then rejects updates or the filter blames the gyro bias.</a:t>
            </a:r>
          </a:p>
          <a:p>
            <a:pPr marL="182880" indent="-182880">
              <a:spcAft>
                <a:spcPts val="800"/>
              </a:spcAft>
              <a:buChar char="•"/>
            </a:pPr>
            <a:r>
              <a:rPr sz="1600" b="0">
                <a:solidFill>
                  <a:srgbClr val="0B0B0B"/>
                </a:solidFill>
                <a:latin typeface="Calibri"/>
              </a:rPr>
              <a:t>The IMU's a</a:t>
            </a:r>
            <a:r>
              <a:rPr sz="1600" b="0" baseline="-25000">
                <a:solidFill>
                  <a:srgbClr val="0B0B0B"/>
                </a:solidFill>
                <a:latin typeface="Calibri"/>
              </a:rPr>
              <a:t>y</a:t>
            </a:r>
            <a:r>
              <a:rPr sz="1600" b="0">
                <a:solidFill>
                  <a:srgbClr val="0B0B0B"/>
                </a:solidFill>
                <a:latin typeface="Calibri"/>
              </a:rPr>
              <a:t> becomes the specific force v̇</a:t>
            </a:r>
            <a:r>
              <a:rPr sz="1600" b="0" baseline="-25000">
                <a:solidFill>
                  <a:srgbClr val="0B0B0B"/>
                </a:solidFill>
                <a:latin typeface="Calibri"/>
              </a:rPr>
              <a:t>y</a:t>
            </a:r>
            <a:r>
              <a:rPr sz="1600" b="0">
                <a:solidFill>
                  <a:srgbClr val="0B0B0B"/>
                </a:solidFill>
                <a:latin typeface="Calibri"/>
              </a:rPr>
              <a:t> + v</a:t>
            </a:r>
            <a:r>
              <a:rPr sz="1600" b="0" baseline="-25000">
                <a:solidFill>
                  <a:srgbClr val="0B0B0B"/>
                </a:solidFill>
                <a:latin typeface="Calibri"/>
              </a:rPr>
              <a:t>x</a:t>
            </a:r>
            <a:r>
              <a:rPr sz="1600" b="0">
                <a:solidFill>
                  <a:srgbClr val="0B0B0B"/>
                </a:solidFill>
                <a:latin typeface="Calibri"/>
              </a:rPr>
              <a:t>·r (the ECU does not use it yet). Wheel odometry is unchanged: the rear wheels roll at v</a:t>
            </a:r>
            <a:r>
              <a:rPr sz="1600" b="0" baseline="-25000">
                <a:solidFill>
                  <a:srgbClr val="0B0B0B"/>
                </a:solidFill>
                <a:latin typeface="Calibri"/>
              </a:rPr>
              <a:t>x</a:t>
            </a:r>
            <a:r>
              <a:rPr sz="1600" b="0">
                <a:solidFill>
                  <a:srgbClr val="0B0B0B"/>
                </a:solidFill>
                <a:latin typeface="Calibri"/>
              </a:rPr>
              <a:t>.</a:t>
            </a:r>
          </a:p>
          <a:p>
            <a:pPr marL="182880" indent="-182880">
              <a:spcAft>
                <a:spcPts val="800"/>
              </a:spcAft>
              <a:buChar char="•"/>
            </a:pPr>
            <a:r>
              <a:rPr sz="1600" b="0">
                <a:solidFill>
                  <a:srgbClr val="0B0B0B"/>
                </a:solidFill>
                <a:latin typeface="Calibri"/>
              </a:rPr>
              <a:t>Dead reckoning drifts by the crab α</a:t>
            </a:r>
            <a:r>
              <a:rPr sz="1600" b="0" baseline="-25000">
                <a:solidFill>
                  <a:srgbClr val="0B0B0B"/>
                </a:solidFill>
                <a:latin typeface="Calibri"/>
              </a:rPr>
              <a:t>r</a:t>
            </a:r>
            <a:r>
              <a:rPr sz="1600" b="0">
                <a:solidFill>
                  <a:srgbClr val="0B0B0B"/>
                </a:solidFill>
                <a:latin typeface="Calibri"/>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51560"/>
          </a:xfrm>
          <a:prstGeom prst="rect">
            <a:avLst/>
          </a:prstGeom>
          <a:noFill/>
        </p:spPr>
        <p:txBody>
          <a:bodyPr wrap="square" anchor="t" lIns="45720" rIns="45720" tIns="27432" bIns="27432">
            <a:spAutoFit/>
          </a:bodyPr>
          <a:lstStyle/>
          <a:p>
            <a:pPr>
              <a:spcAft>
                <a:spcPts val="0"/>
              </a:spcAft>
            </a:pPr>
            <a:r>
              <a:rPr sz="2800" b="1">
                <a:solidFill>
                  <a:srgbClr val="0B0B0B"/>
                </a:solidFill>
                <a:latin typeface="Calibri"/>
              </a:rPr>
              <a:t>Caveat 3: the limits of the dynamic model and of these numbers</a:t>
            </a:r>
          </a:p>
        </p:txBody>
      </p:sp>
      <p:sp>
        <p:nvSpPr>
          <p:cNvPr id="3" name="TextBox 2"/>
          <p:cNvSpPr txBox="1"/>
          <p:nvPr/>
        </p:nvSpPr>
        <p:spPr>
          <a:xfrm>
            <a:off x="548640" y="6446520"/>
            <a:ext cx="7315200" cy="274320"/>
          </a:xfrm>
          <a:prstGeom prst="rect">
            <a:avLst/>
          </a:prstGeom>
          <a:noFill/>
        </p:spPr>
        <p:txBody>
          <a:bodyPr wrap="square" anchor="t" lIns="45720" rIns="45720" tIns="27432" bIns="27432">
            <a:spAutoFit/>
          </a:bodyPr>
          <a:lstStyle/>
          <a:p>
            <a:pPr>
              <a:spcAft>
                <a:spcPts val="0"/>
              </a:spcAft>
            </a:pPr>
            <a:r>
              <a:rPr sz="1000" b="0">
                <a:solidFill>
                  <a:srgbClr val="52514E"/>
                </a:solidFill>
                <a:latin typeface="Calibri"/>
              </a:rPr>
              <a:t>parking_sim · side slip: kinematic and dynamic bicycle model</a:t>
            </a:r>
          </a:p>
        </p:txBody>
      </p:sp>
      <p:sp>
        <p:nvSpPr>
          <p:cNvPr id="4" name="TextBox 3"/>
          <p:cNvSpPr txBox="1"/>
          <p:nvPr/>
        </p:nvSpPr>
        <p:spPr>
          <a:xfrm>
            <a:off x="10728655" y="6446520"/>
            <a:ext cx="914400" cy="274320"/>
          </a:xfrm>
          <a:prstGeom prst="rect">
            <a:avLst/>
          </a:prstGeom>
          <a:noFill/>
        </p:spPr>
        <p:txBody>
          <a:bodyPr wrap="square" anchor="t" lIns="45720" rIns="45720" tIns="27432" bIns="27432">
            <a:spAutoFit/>
          </a:bodyPr>
          <a:lstStyle/>
          <a:p>
            <a:pPr algn="r">
              <a:spcAft>
                <a:spcPts val="0"/>
              </a:spcAft>
            </a:pPr>
            <a:r>
              <a:rPr sz="1000" b="0">
                <a:solidFill>
                  <a:srgbClr val="52514E"/>
                </a:solidFill>
                <a:latin typeface="Calibri"/>
              </a:rPr>
              <a:t>13</a:t>
            </a:r>
          </a:p>
        </p:txBody>
      </p:sp>
      <p:sp>
        <p:nvSpPr>
          <p:cNvPr id="5" name="TextBox 4"/>
          <p:cNvSpPr txBox="1"/>
          <p:nvPr/>
        </p:nvSpPr>
        <p:spPr>
          <a:xfrm>
            <a:off x="548640" y="1325880"/>
            <a:ext cx="5364327" cy="411480"/>
          </a:xfrm>
          <a:prstGeom prst="rect">
            <a:avLst/>
          </a:prstGeom>
          <a:noFill/>
        </p:spPr>
        <p:txBody>
          <a:bodyPr wrap="square" anchor="t" lIns="45720" rIns="45720" tIns="27432" bIns="27432">
            <a:spAutoFit/>
          </a:bodyPr>
          <a:lstStyle/>
          <a:p>
            <a:pPr>
              <a:spcAft>
                <a:spcPts val="0"/>
              </a:spcAft>
            </a:pPr>
            <a:r>
              <a:rPr sz="2000" b="1">
                <a:solidFill>
                  <a:srgbClr val="2A78D6"/>
                </a:solidFill>
                <a:latin typeface="Calibri"/>
              </a:rPr>
              <a:t>Model</a:t>
            </a:r>
          </a:p>
        </p:txBody>
      </p:sp>
      <p:sp>
        <p:nvSpPr>
          <p:cNvPr id="6" name="TextBox 5"/>
          <p:cNvSpPr txBox="1"/>
          <p:nvPr/>
        </p:nvSpPr>
        <p:spPr>
          <a:xfrm>
            <a:off x="548640" y="1783080"/>
            <a:ext cx="5364327" cy="4206240"/>
          </a:xfrm>
          <a:prstGeom prst="rect">
            <a:avLst/>
          </a:prstGeom>
          <a:noFill/>
        </p:spPr>
        <p:txBody>
          <a:bodyPr wrap="square" anchor="t" lIns="45720" rIns="45720" tIns="27432" bIns="27432">
            <a:spAutoFit/>
          </a:bodyPr>
          <a:lstStyle/>
          <a:p>
            <a:pPr marL="194310" indent="-194310">
              <a:spcAft>
                <a:spcPts val="900"/>
              </a:spcAft>
              <a:buChar char="•"/>
            </a:pPr>
            <a:r>
              <a:rPr sz="1700" b="0">
                <a:solidFill>
                  <a:srgbClr val="0B0B0B"/>
                </a:solidFill>
                <a:latin typeface="Calibri"/>
              </a:rPr>
              <a:t>Linear tire valid only to about 5°; saturation is a clamp, not a Pacejka curve.</a:t>
            </a:r>
          </a:p>
          <a:p>
            <a:pPr marL="194310" indent="-194310">
              <a:spcAft>
                <a:spcPts val="900"/>
              </a:spcAft>
              <a:buChar char="•"/>
            </a:pPr>
            <a:r>
              <a:rPr sz="1700" b="0">
                <a:solidFill>
                  <a:srgbClr val="0B0B0B"/>
                </a:solidFill>
                <a:latin typeface="Calibri"/>
              </a:rPr>
              <a:t>No load transfer, roll or pitch: constant axle loads, mass and stiffness.</a:t>
            </a:r>
          </a:p>
          <a:p>
            <a:pPr marL="194310" indent="-194310">
              <a:spcAft>
                <a:spcPts val="900"/>
              </a:spcAft>
              <a:buChar char="•"/>
            </a:pPr>
            <a:r>
              <a:rPr sz="1700" b="0">
                <a:solidFill>
                  <a:srgbClr val="0B0B0B"/>
                </a:solidFill>
                <a:latin typeface="Calibri"/>
              </a:rPr>
              <a:t>Longitudinal channel stays "commanded acceleration": no drivetrain, no longitudinal or combined slip.</a:t>
            </a:r>
          </a:p>
          <a:p>
            <a:pPr marL="194310" indent="-194310">
              <a:spcAft>
                <a:spcPts val="900"/>
              </a:spcAft>
              <a:buChar char="•"/>
            </a:pPr>
            <a:r>
              <a:rPr sz="1700" b="0">
                <a:solidFill>
                  <a:srgbClr val="0B0B0B"/>
                </a:solidFill>
                <a:latin typeface="Calibri"/>
              </a:rPr>
              <a:t>Planar: no road grade or camber.</a:t>
            </a:r>
          </a:p>
        </p:txBody>
      </p:sp>
      <p:sp>
        <p:nvSpPr>
          <p:cNvPr id="7" name="TextBox 6"/>
          <p:cNvSpPr txBox="1"/>
          <p:nvPr/>
        </p:nvSpPr>
        <p:spPr>
          <a:xfrm>
            <a:off x="6278727" y="1325880"/>
            <a:ext cx="5364327" cy="411480"/>
          </a:xfrm>
          <a:prstGeom prst="rect">
            <a:avLst/>
          </a:prstGeom>
          <a:noFill/>
        </p:spPr>
        <p:txBody>
          <a:bodyPr wrap="square" anchor="t" lIns="45720" rIns="45720" tIns="27432" bIns="27432">
            <a:spAutoFit/>
          </a:bodyPr>
          <a:lstStyle/>
          <a:p>
            <a:pPr>
              <a:spcAft>
                <a:spcPts val="0"/>
              </a:spcAft>
            </a:pPr>
            <a:r>
              <a:rPr sz="2000" b="1">
                <a:solidFill>
                  <a:srgbClr val="EB6834"/>
                </a:solidFill>
                <a:latin typeface="Calibri"/>
              </a:rPr>
              <a:t>Process</a:t>
            </a:r>
          </a:p>
        </p:txBody>
      </p:sp>
      <p:sp>
        <p:nvSpPr>
          <p:cNvPr id="8" name="TextBox 7"/>
          <p:cNvSpPr txBox="1"/>
          <p:nvPr/>
        </p:nvSpPr>
        <p:spPr>
          <a:xfrm>
            <a:off x="6278727" y="1783080"/>
            <a:ext cx="5364327" cy="4206240"/>
          </a:xfrm>
          <a:prstGeom prst="rect">
            <a:avLst/>
          </a:prstGeom>
          <a:noFill/>
        </p:spPr>
        <p:txBody>
          <a:bodyPr wrap="square" anchor="t" lIns="45720" rIns="45720" tIns="27432" bIns="27432">
            <a:spAutoFit/>
          </a:bodyPr>
          <a:lstStyle/>
          <a:p>
            <a:pPr marL="194310" indent="-194310">
              <a:spcAft>
                <a:spcPts val="900"/>
              </a:spcAft>
              <a:buChar char="•"/>
            </a:pPr>
            <a:r>
              <a:rPr sz="1700" b="0">
                <a:solidFill>
                  <a:srgbClr val="0B0B0B"/>
                </a:solidFill>
                <a:latin typeface="Calibri"/>
              </a:rPr>
              <a:t>Parameters are typical sedan values, not identified from a vehicle.</a:t>
            </a:r>
          </a:p>
          <a:p>
            <a:pPr marL="194310" indent="-194310">
              <a:spcAft>
                <a:spcPts val="900"/>
              </a:spcAft>
              <a:buChar char="•"/>
            </a:pPr>
            <a:r>
              <a:rPr sz="1700" b="0">
                <a:solidFill>
                  <a:srgbClr val="0B0B0B"/>
                </a:solidFill>
                <a:latin typeface="Calibri"/>
              </a:rPr>
              <a:t>Every number in this deck is a steady-state hand calculation, not simulator output.</a:t>
            </a:r>
          </a:p>
          <a:p>
            <a:pPr marL="194310" indent="-194310">
              <a:spcAft>
                <a:spcPts val="900"/>
              </a:spcAft>
              <a:buChar char="•"/>
            </a:pPr>
            <a:r>
              <a:rPr sz="1700" b="0">
                <a:solidFill>
                  <a:srgbClr val="0B0B0B"/>
                </a:solidFill>
                <a:latin typeface="Calibri"/>
              </a:rPr>
              <a:t>Reverse driving flips the slip sign relations: tested against a mirrored forward case.</a:t>
            </a:r>
          </a:p>
          <a:p>
            <a:pPr marL="194310" indent="-194310">
              <a:spcAft>
                <a:spcPts val="900"/>
              </a:spcAft>
              <a:buChar char="•"/>
            </a:pPr>
            <a:r>
              <a:rPr sz="1700" b="0">
                <a:solidFill>
                  <a:srgbClr val="0B0B0B"/>
                </a:solidFill>
                <a:latin typeface="Calibri"/>
              </a:rPr>
              <a:t>Tire force at standstill exists only with deflection states.</a:t>
            </a:r>
          </a:p>
          <a:p>
            <a:pPr marL="194310" indent="-194310">
              <a:spcAft>
                <a:spcPts val="900"/>
              </a:spcAft>
              <a:buChar char="•"/>
            </a:pPr>
            <a:r>
              <a:rPr sz="1700" b="0">
                <a:solidFill>
                  <a:srgbClr val="0B0B0B"/>
                </a:solidFill>
                <a:latin typeface="Calibri"/>
              </a:rPr>
              <a:t>PLAN.md lists dynamic tire models as out of scope: amend it first.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51560"/>
          </a:xfrm>
          <a:prstGeom prst="rect">
            <a:avLst/>
          </a:prstGeom>
          <a:noFill/>
        </p:spPr>
        <p:txBody>
          <a:bodyPr wrap="square" anchor="t" lIns="45720" rIns="45720" tIns="27432" bIns="27432">
            <a:spAutoFit/>
          </a:bodyPr>
          <a:lstStyle/>
          <a:p>
            <a:pPr>
              <a:spcAft>
                <a:spcPts val="0"/>
              </a:spcAft>
            </a:pPr>
            <a:r>
              <a:rPr sz="2800" b="1">
                <a:solidFill>
                  <a:srgbClr val="0B0B0B"/>
                </a:solidFill>
                <a:latin typeface="Calibri"/>
              </a:rPr>
              <a:t>How we would validate it, and the steps to get there</a:t>
            </a:r>
          </a:p>
        </p:txBody>
      </p:sp>
      <p:sp>
        <p:nvSpPr>
          <p:cNvPr id="3" name="TextBox 2"/>
          <p:cNvSpPr txBox="1"/>
          <p:nvPr/>
        </p:nvSpPr>
        <p:spPr>
          <a:xfrm>
            <a:off x="548640" y="6446520"/>
            <a:ext cx="7315200" cy="274320"/>
          </a:xfrm>
          <a:prstGeom prst="rect">
            <a:avLst/>
          </a:prstGeom>
          <a:noFill/>
        </p:spPr>
        <p:txBody>
          <a:bodyPr wrap="square" anchor="t" lIns="45720" rIns="45720" tIns="27432" bIns="27432">
            <a:spAutoFit/>
          </a:bodyPr>
          <a:lstStyle/>
          <a:p>
            <a:pPr>
              <a:spcAft>
                <a:spcPts val="0"/>
              </a:spcAft>
            </a:pPr>
            <a:r>
              <a:rPr sz="1000" b="0">
                <a:solidFill>
                  <a:srgbClr val="52514E"/>
                </a:solidFill>
                <a:latin typeface="Calibri"/>
              </a:rPr>
              <a:t>parking_sim · side slip: kinematic and dynamic bicycle model</a:t>
            </a:r>
          </a:p>
        </p:txBody>
      </p:sp>
      <p:sp>
        <p:nvSpPr>
          <p:cNvPr id="4" name="TextBox 3"/>
          <p:cNvSpPr txBox="1"/>
          <p:nvPr/>
        </p:nvSpPr>
        <p:spPr>
          <a:xfrm>
            <a:off x="10728655" y="6446520"/>
            <a:ext cx="914400" cy="274320"/>
          </a:xfrm>
          <a:prstGeom prst="rect">
            <a:avLst/>
          </a:prstGeom>
          <a:noFill/>
        </p:spPr>
        <p:txBody>
          <a:bodyPr wrap="square" anchor="t" lIns="45720" rIns="45720" tIns="27432" bIns="27432">
            <a:spAutoFit/>
          </a:bodyPr>
          <a:lstStyle/>
          <a:p>
            <a:pPr algn="r">
              <a:spcAft>
                <a:spcPts val="0"/>
              </a:spcAft>
            </a:pPr>
            <a:r>
              <a:rPr sz="1000" b="0">
                <a:solidFill>
                  <a:srgbClr val="52514E"/>
                </a:solidFill>
                <a:latin typeface="Calibri"/>
              </a:rPr>
              <a:t>14</a:t>
            </a:r>
          </a:p>
        </p:txBody>
      </p:sp>
      <p:sp>
        <p:nvSpPr>
          <p:cNvPr id="5" name="TextBox 4"/>
          <p:cNvSpPr txBox="1"/>
          <p:nvPr/>
        </p:nvSpPr>
        <p:spPr>
          <a:xfrm>
            <a:off x="548640" y="1325880"/>
            <a:ext cx="5486400" cy="411480"/>
          </a:xfrm>
          <a:prstGeom prst="rect">
            <a:avLst/>
          </a:prstGeom>
          <a:noFill/>
        </p:spPr>
        <p:txBody>
          <a:bodyPr wrap="square" anchor="t" lIns="45720" rIns="45720" tIns="27432" bIns="27432">
            <a:spAutoFit/>
          </a:bodyPr>
          <a:lstStyle/>
          <a:p>
            <a:pPr>
              <a:spcAft>
                <a:spcPts val="0"/>
              </a:spcAft>
            </a:pPr>
            <a:r>
              <a:rPr sz="2000" b="1">
                <a:solidFill>
                  <a:srgbClr val="2A78D6"/>
                </a:solidFill>
                <a:latin typeface="Calibri"/>
              </a:rPr>
              <a:t>Validation</a:t>
            </a:r>
          </a:p>
        </p:txBody>
      </p:sp>
      <p:sp>
        <p:nvSpPr>
          <p:cNvPr id="6" name="TextBox 5"/>
          <p:cNvSpPr txBox="1"/>
          <p:nvPr/>
        </p:nvSpPr>
        <p:spPr>
          <a:xfrm>
            <a:off x="548640" y="1783080"/>
            <a:ext cx="5486400" cy="4480560"/>
          </a:xfrm>
          <a:prstGeom prst="rect">
            <a:avLst/>
          </a:prstGeom>
          <a:noFill/>
        </p:spPr>
        <p:txBody>
          <a:bodyPr wrap="square" anchor="t" lIns="45720" rIns="45720" tIns="27432" bIns="27432">
            <a:spAutoFit/>
          </a:bodyPr>
          <a:lstStyle/>
          <a:p>
            <a:pPr marL="182880" indent="-182880">
              <a:spcAft>
                <a:spcPts val="700"/>
              </a:spcAft>
              <a:buChar char="•"/>
            </a:pPr>
            <a:r>
              <a:rPr sz="1600" b="0">
                <a:solidFill>
                  <a:srgbClr val="0B0B0B"/>
                </a:solidFill>
                <a:latin typeface="Calibri"/>
              </a:rPr>
              <a:t>Kinematic limit: at low speed the circle radius equals L / tan δ within tolerance.</a:t>
            </a:r>
          </a:p>
          <a:p>
            <a:pPr marL="182880" indent="-182880">
              <a:spcAft>
                <a:spcPts val="700"/>
              </a:spcAft>
              <a:buChar char="•"/>
            </a:pPr>
            <a:r>
              <a:rPr sz="1600" b="0">
                <a:solidFill>
                  <a:srgbClr val="0B0B0B"/>
                </a:solidFill>
                <a:latin typeface="Calibri"/>
              </a:rPr>
              <a:t>Steady cornering matches the closed-form slips and the understeer gradient.</a:t>
            </a:r>
          </a:p>
          <a:p>
            <a:pPr marL="182880" indent="-182880">
              <a:spcAft>
                <a:spcPts val="700"/>
              </a:spcAft>
              <a:buChar char="•"/>
            </a:pPr>
            <a:r>
              <a:rPr sz="1600" b="0">
                <a:solidFill>
                  <a:srgbClr val="0B0B0B"/>
                </a:solidFill>
                <a:latin typeface="Calibri"/>
              </a:rPr>
              <a:t>Saturation: force never exceeds μ·F</a:t>
            </a:r>
            <a:r>
              <a:rPr sz="1600" b="0" baseline="-25000">
                <a:solidFill>
                  <a:srgbClr val="0B0B0B"/>
                </a:solidFill>
                <a:latin typeface="Calibri"/>
              </a:rPr>
              <a:t>z</a:t>
            </a:r>
            <a:r>
              <a:rPr sz="1600" b="0">
                <a:solidFill>
                  <a:srgbClr val="0B0B0B"/>
                </a:solidFill>
                <a:latin typeface="Calibri"/>
              </a:rPr>
              <a:t>; standstill holds with steering applied.</a:t>
            </a:r>
          </a:p>
          <a:p>
            <a:pPr marL="182880" indent="-182880">
              <a:spcAft>
                <a:spcPts val="700"/>
              </a:spcAft>
              <a:buChar char="•"/>
            </a:pPr>
            <a:r>
              <a:rPr sz="1600" b="0">
                <a:solidFill>
                  <a:srgbClr val="0B0B0B"/>
                </a:solidFill>
                <a:latin typeface="Calibri"/>
              </a:rPr>
              <a:t>Reverse mirrors forward; α</a:t>
            </a:r>
            <a:r>
              <a:rPr sz="1600" b="0" baseline="-25000">
                <a:solidFill>
                  <a:srgbClr val="0B0B0B"/>
                </a:solidFill>
                <a:latin typeface="Calibri"/>
              </a:rPr>
              <a:t>r</a:t>
            </a:r>
            <a:r>
              <a:rPr sz="1600" b="0">
                <a:solidFill>
                  <a:srgbClr val="0B0B0B"/>
                </a:solidFill>
                <a:latin typeface="Calibri"/>
              </a:rPr>
              <a:t> = −(rear-axle velocity angle) holds exactly.</a:t>
            </a:r>
          </a:p>
          <a:p>
            <a:pPr marL="182880" indent="-182880">
              <a:spcAft>
                <a:spcPts val="700"/>
              </a:spcAft>
              <a:buChar char="•"/>
            </a:pPr>
            <a:r>
              <a:rPr sz="1600" b="0">
                <a:solidFill>
                  <a:srgbClr val="0B0B0B"/>
                </a:solidFill>
                <a:latin typeface="Calibri"/>
              </a:rPr>
              <a:t>Regression: S2–S4 on the dynamic plant stay within the acceptance limits.</a:t>
            </a:r>
          </a:p>
          <a:p>
            <a:pPr marL="182880" indent="-182880">
              <a:spcAft>
                <a:spcPts val="700"/>
              </a:spcAft>
              <a:buChar char="•"/>
            </a:pPr>
            <a:r>
              <a:rPr sz="1600" b="0">
                <a:solidFill>
                  <a:srgbClr val="0B0B0B"/>
                </a:solidFill>
                <a:latin typeface="Calibri"/>
              </a:rPr>
              <a:t>Stress case: about 3–5 m/s or low μ, with a plant axis in sim_table.</a:t>
            </a:r>
          </a:p>
        </p:txBody>
      </p:sp>
      <p:sp>
        <p:nvSpPr>
          <p:cNvPr id="7" name="TextBox 6"/>
          <p:cNvSpPr txBox="1"/>
          <p:nvPr/>
        </p:nvSpPr>
        <p:spPr>
          <a:xfrm>
            <a:off x="6400800" y="1325880"/>
            <a:ext cx="5212080" cy="411480"/>
          </a:xfrm>
          <a:prstGeom prst="rect">
            <a:avLst/>
          </a:prstGeom>
          <a:noFill/>
        </p:spPr>
        <p:txBody>
          <a:bodyPr wrap="square" anchor="t" lIns="45720" rIns="45720" tIns="27432" bIns="27432">
            <a:spAutoFit/>
          </a:bodyPr>
          <a:lstStyle/>
          <a:p>
            <a:pPr>
              <a:spcAft>
                <a:spcPts val="0"/>
              </a:spcAft>
            </a:pPr>
            <a:r>
              <a:rPr sz="2000" b="1">
                <a:solidFill>
                  <a:srgbClr val="EB6834"/>
                </a:solidFill>
                <a:latin typeface="Calibri"/>
              </a:rPr>
              <a:t>Roadmap</a:t>
            </a:r>
          </a:p>
        </p:txBody>
      </p:sp>
      <p:graphicFrame>
        <p:nvGraphicFramePr>
          <p:cNvPr id="8" name="Table 7"/>
          <p:cNvGraphicFramePr>
            <a:graphicFrameLocks noGrp="1"/>
          </p:cNvGraphicFramePr>
          <p:nvPr/>
        </p:nvGraphicFramePr>
        <p:xfrm>
          <a:off x="6400800" y="1828800"/>
          <a:ext cx="5212080" cy="3224784"/>
        </p:xfrm>
        <a:graphic>
          <a:graphicData uri="http://schemas.openxmlformats.org/drawingml/2006/table">
            <a:tbl>
              <a:tblPr firstRow="1">
                <a:tableStyleId>{5C22544A-7EE6-4342-B048-85BDC9FD1C3A}</a:tableStyleId>
              </a:tblPr>
              <a:tblGrid>
                <a:gridCol w="457200"/>
                <a:gridCol w="3566160"/>
                <a:gridCol w="1188720"/>
              </a:tblGrid>
              <a:tr h="359664">
                <a:tc>
                  <a:txBody>
                    <a:bodyPr wrap="square"/>
                    <a:lstStyle/>
                    <a:p>
                      <a:r>
                        <a:rPr sz="1400" b="1">
                          <a:solidFill>
                            <a:srgbClr val="FFFFFF"/>
                          </a:solidFill>
                          <a:latin typeface="Calibri"/>
                        </a:rPr>
                        <a:t>#</a:t>
                      </a:r>
                    </a:p>
                  </a:txBody>
                  <a:tcPr marL="73152" marR="73152" marT="36576" marB="36576" anchor="ctr">
                    <a:solidFill>
                      <a:srgbClr val="2B2A28"/>
                    </a:solidFill>
                    <a:lnL w="0">
                      <a:noFill/>
                    </a:lnL>
                    <a:lnR w="0">
                      <a:noFill/>
                    </a:lnR>
                    <a:lnT w="0">
                      <a:noFill/>
                    </a:lnT>
                    <a:lnB w="9525">
                      <a:solidFill>
                        <a:srgbClr val="E4E3DF"/>
                      </a:solidFill>
                    </a:lnB>
                  </a:tcPr>
                </a:tc>
                <a:tc>
                  <a:txBody>
                    <a:bodyPr wrap="square"/>
                    <a:lstStyle/>
                    <a:p>
                      <a:r>
                        <a:rPr sz="1400" b="1">
                          <a:solidFill>
                            <a:srgbClr val="FFFFFF"/>
                          </a:solidFill>
                          <a:latin typeface="Calibri"/>
                        </a:rPr>
                        <a:t>Work</a:t>
                      </a:r>
                    </a:p>
                  </a:txBody>
                  <a:tcPr marL="73152" marR="73152" marT="36576" marB="36576" anchor="ctr">
                    <a:solidFill>
                      <a:srgbClr val="2B2A28"/>
                    </a:solidFill>
                    <a:lnL w="0">
                      <a:noFill/>
                    </a:lnL>
                    <a:lnR w="0">
                      <a:noFill/>
                    </a:lnR>
                    <a:lnT w="0">
                      <a:noFill/>
                    </a:lnT>
                    <a:lnB w="9525">
                      <a:solidFill>
                        <a:srgbClr val="E4E3DF"/>
                      </a:solidFill>
                    </a:lnB>
                  </a:tcPr>
                </a:tc>
                <a:tc>
                  <a:txBody>
                    <a:bodyPr wrap="square"/>
                    <a:lstStyle/>
                    <a:p>
                      <a:r>
                        <a:rPr sz="1400" b="1">
                          <a:solidFill>
                            <a:srgbClr val="FFFFFF"/>
                          </a:solidFill>
                          <a:latin typeface="Calibri"/>
                        </a:rPr>
                        <a:t>Time</a:t>
                      </a:r>
                    </a:p>
                  </a:txBody>
                  <a:tcPr marL="73152" marR="73152" marT="36576" marB="36576" anchor="ctr">
                    <a:solidFill>
                      <a:srgbClr val="2B2A28"/>
                    </a:solidFill>
                    <a:lnL w="0">
                      <a:noFill/>
                    </a:lnL>
                    <a:lnR w="0">
                      <a:noFill/>
                    </a:lnR>
                    <a:lnT w="0">
                      <a:noFill/>
                    </a:lnT>
                    <a:lnB w="9525">
                      <a:solidFill>
                        <a:srgbClr val="E4E3DF"/>
                      </a:solidFill>
                    </a:lnB>
                  </a:tcPr>
                </a:tc>
              </a:tr>
              <a:tr h="573024">
                <a:tc>
                  <a:txBody>
                    <a:bodyPr wrap="square"/>
                    <a:lstStyle/>
                    <a:p>
                      <a:r>
                        <a:rPr sz="1400" b="1">
                          <a:solidFill>
                            <a:srgbClr val="0B0B0B"/>
                          </a:solidFill>
                          <a:latin typeface="Calibri"/>
                        </a:rPr>
                        <a:t>0</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Amend PLAN.md: scope line and a new optional step</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10 min</a:t>
                      </a:r>
                    </a:p>
                  </a:txBody>
                  <a:tcPr marL="73152" marR="73152" marT="36576" marB="36576" anchor="ctr">
                    <a:solidFill>
                      <a:srgbClr val="FFFFFF"/>
                    </a:solidFill>
                    <a:lnL w="0">
                      <a:noFill/>
                    </a:lnL>
                    <a:lnR w="0">
                      <a:noFill/>
                    </a:lnR>
                    <a:lnT w="0">
                      <a:noFill/>
                    </a:lnT>
                    <a:lnB w="9525">
                      <a:solidFill>
                        <a:srgbClr val="E4E3DF"/>
                      </a:solidFill>
                    </a:lnB>
                  </a:tcPr>
                </a:tc>
              </a:tr>
              <a:tr h="573024">
                <a:tc>
                  <a:txBody>
                    <a:bodyPr wrap="square"/>
                    <a:lstStyle/>
                    <a:p>
                      <a:r>
                        <a:rPr sz="1400" b="1">
                          <a:solidFill>
                            <a:srgbClr val="0B0B0B"/>
                          </a:solidFill>
                          <a:latin typeface="Calibri"/>
                        </a:rPr>
                        <a:t>1</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IVehicleModel, VehicleDynamicsParams, DynamicBicycleModel, unit tests</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1.5 h</a:t>
                      </a:r>
                    </a:p>
                  </a:txBody>
                  <a:tcPr marL="73152" marR="73152" marT="36576" marB="36576" anchor="ctr">
                    <a:solidFill>
                      <a:srgbClr val="FFFFFF"/>
                    </a:solidFill>
                    <a:lnL w="0">
                      <a:noFill/>
                    </a:lnL>
                    <a:lnR w="0">
                      <a:noFill/>
                    </a:lnR>
                    <a:lnT w="0">
                      <a:noFill/>
                    </a:lnT>
                    <a:lnB w="9525">
                      <a:solidFill>
                        <a:srgbClr val="E4E3DF"/>
                      </a:solidFill>
                    </a:lnB>
                  </a:tcPr>
                </a:tc>
              </a:tr>
              <a:tr h="573024">
                <a:tc>
                  <a:txBody>
                    <a:bodyPr wrap="square"/>
                    <a:lstStyle/>
                    <a:p>
                      <a:r>
                        <a:rPr sz="1400" b="1">
                          <a:solidFill>
                            <a:srgbClr val="0B0B0B"/>
                          </a:solidFill>
                          <a:latin typeface="Calibri"/>
                        </a:rPr>
                        <a:t>2</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Truth and IMU plumbing, truth_alpha_f / _r / _beta in the CSV</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0.5 h</a:t>
                      </a:r>
                    </a:p>
                  </a:txBody>
                  <a:tcPr marL="73152" marR="73152" marT="36576" marB="36576" anchor="ctr">
                    <a:solidFill>
                      <a:srgbClr val="FFFFFF"/>
                    </a:solidFill>
                    <a:lnL w="0">
                      <a:noFill/>
                    </a:lnL>
                    <a:lnR w="0">
                      <a:noFill/>
                    </a:lnR>
                    <a:lnT w="0">
                      <a:noFill/>
                    </a:lnT>
                    <a:lnB w="9525">
                      <a:solidFill>
                        <a:srgbClr val="E4E3DF"/>
                      </a:solidFill>
                    </a:lnB>
                  </a:tcPr>
                </a:tc>
              </a:tr>
              <a:tr h="573024">
                <a:tc>
                  <a:txBody>
                    <a:bodyPr wrap="square"/>
                    <a:lstStyle/>
                    <a:p>
                      <a:r>
                        <a:rPr sz="1400" b="1">
                          <a:solidFill>
                            <a:srgbClr val="0B0B0B"/>
                          </a:solidFill>
                          <a:latin typeface="Calibri"/>
                        </a:rPr>
                        <a:t>3</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Scenario field, runner wiring, --plant option</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0.5 h</a:t>
                      </a:r>
                    </a:p>
                  </a:txBody>
                  <a:tcPr marL="73152" marR="73152" marT="36576" marB="36576" anchor="ctr">
                    <a:solidFill>
                      <a:srgbClr val="FFFFFF"/>
                    </a:solidFill>
                    <a:lnL w="0">
                      <a:noFill/>
                    </a:lnL>
                    <a:lnR w="0">
                      <a:noFill/>
                    </a:lnR>
                    <a:lnT w="0">
                      <a:noFill/>
                    </a:lnT>
                    <a:lnB w="9525">
                      <a:solidFill>
                        <a:srgbClr val="E4E3DF"/>
                      </a:solidFill>
                    </a:lnB>
                  </a:tcPr>
                </a:tc>
              </a:tr>
              <a:tr h="573024">
                <a:tc>
                  <a:txBody>
                    <a:bodyPr wrap="square"/>
                    <a:lstStyle/>
                    <a:p>
                      <a:r>
                        <a:rPr sz="1400" b="1">
                          <a:solidFill>
                            <a:srgbClr val="0B0B0B"/>
                          </a:solidFill>
                          <a:latin typeface="Calibri"/>
                        </a:rPr>
                        <a:t>4</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Validation and stress scenarios, plant axis in sim_table</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1 h</a:t>
                      </a:r>
                    </a:p>
                  </a:txBody>
                  <a:tcPr marL="73152" marR="73152" marT="36576" marB="36576" anchor="ctr">
                    <a:solidFill>
                      <a:srgbClr val="FFFFFF"/>
                    </a:solidFill>
                    <a:lnL w="0">
                      <a:noFill/>
                    </a:lnL>
                    <a:lnR w="0">
                      <a:noFill/>
                    </a:lnR>
                    <a:lnT w="0">
                      <a:noFill/>
                    </a:lnT>
                    <a:lnB w="9525">
                      <a:solidFill>
                        <a:srgbClr val="E4E3DF"/>
                      </a:solidFill>
                    </a:lnB>
                  </a:tcPr>
                </a:tc>
              </a:tr>
            </a:tbl>
          </a:graphicData>
        </a:graphic>
      </p:graphicFrame>
      <p:sp>
        <p:nvSpPr>
          <p:cNvPr id="9" name="TextBox 8"/>
          <p:cNvSpPr txBox="1"/>
          <p:nvPr/>
        </p:nvSpPr>
        <p:spPr>
          <a:xfrm>
            <a:off x="6400800" y="5394960"/>
            <a:ext cx="5212080" cy="822960"/>
          </a:xfrm>
          <a:prstGeom prst="rect">
            <a:avLst/>
          </a:prstGeom>
          <a:noFill/>
        </p:spPr>
        <p:txBody>
          <a:bodyPr wrap="square" anchor="t" lIns="45720" rIns="45720" tIns="27432" bIns="27432">
            <a:spAutoFit/>
          </a:bodyPr>
          <a:lstStyle/>
          <a:p>
            <a:pPr>
              <a:spcAft>
                <a:spcPts val="0"/>
              </a:spcAft>
            </a:pPr>
            <a:r>
              <a:rPr sz="1500" b="0">
                <a:solidFill>
                  <a:srgbClr val="52514E"/>
                </a:solidFill>
                <a:latin typeface="Calibri"/>
              </a:rPr>
              <a:t>Later, separately: a slip-aware EKF and controllers.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51560"/>
          </a:xfrm>
          <a:prstGeom prst="rect">
            <a:avLst/>
          </a:prstGeom>
          <a:noFill/>
        </p:spPr>
        <p:txBody>
          <a:bodyPr wrap="square" anchor="t" lIns="45720" rIns="45720" tIns="27432" bIns="27432">
            <a:spAutoFit/>
          </a:bodyPr>
          <a:lstStyle/>
          <a:p>
            <a:pPr>
              <a:spcAft>
                <a:spcPts val="0"/>
              </a:spcAft>
            </a:pPr>
            <a:r>
              <a:rPr sz="2800" b="1">
                <a:solidFill>
                  <a:srgbClr val="0B0B0B"/>
                </a:solidFill>
                <a:latin typeface="Calibri"/>
              </a:rPr>
              <a:t>Appendix A1: symbols and sign conventions</a:t>
            </a:r>
          </a:p>
        </p:txBody>
      </p:sp>
      <p:sp>
        <p:nvSpPr>
          <p:cNvPr id="3" name="TextBox 2"/>
          <p:cNvSpPr txBox="1"/>
          <p:nvPr/>
        </p:nvSpPr>
        <p:spPr>
          <a:xfrm>
            <a:off x="548640" y="6446520"/>
            <a:ext cx="7315200" cy="274320"/>
          </a:xfrm>
          <a:prstGeom prst="rect">
            <a:avLst/>
          </a:prstGeom>
          <a:noFill/>
        </p:spPr>
        <p:txBody>
          <a:bodyPr wrap="square" anchor="t" lIns="45720" rIns="45720" tIns="27432" bIns="27432">
            <a:spAutoFit/>
          </a:bodyPr>
          <a:lstStyle/>
          <a:p>
            <a:pPr>
              <a:spcAft>
                <a:spcPts val="0"/>
              </a:spcAft>
            </a:pPr>
            <a:r>
              <a:rPr sz="1000" b="0">
                <a:solidFill>
                  <a:srgbClr val="52514E"/>
                </a:solidFill>
                <a:latin typeface="Calibri"/>
              </a:rPr>
              <a:t>parking_sim · side slip: kinematic and dynamic bicycle model</a:t>
            </a:r>
          </a:p>
        </p:txBody>
      </p:sp>
      <p:sp>
        <p:nvSpPr>
          <p:cNvPr id="4" name="TextBox 3"/>
          <p:cNvSpPr txBox="1"/>
          <p:nvPr/>
        </p:nvSpPr>
        <p:spPr>
          <a:xfrm>
            <a:off x="10728655" y="6446520"/>
            <a:ext cx="914400" cy="274320"/>
          </a:xfrm>
          <a:prstGeom prst="rect">
            <a:avLst/>
          </a:prstGeom>
          <a:noFill/>
        </p:spPr>
        <p:txBody>
          <a:bodyPr wrap="square" anchor="t" lIns="45720" rIns="45720" tIns="27432" bIns="27432">
            <a:spAutoFit/>
          </a:bodyPr>
          <a:lstStyle/>
          <a:p>
            <a:pPr algn="r">
              <a:spcAft>
                <a:spcPts val="0"/>
              </a:spcAft>
            </a:pPr>
            <a:r>
              <a:rPr sz="1000" b="0">
                <a:solidFill>
                  <a:srgbClr val="52514E"/>
                </a:solidFill>
                <a:latin typeface="Calibri"/>
              </a:rPr>
              <a:t>15</a:t>
            </a:r>
          </a:p>
        </p:txBody>
      </p:sp>
      <p:graphicFrame>
        <p:nvGraphicFramePr>
          <p:cNvPr id="5" name="Table 4"/>
          <p:cNvGraphicFramePr>
            <a:graphicFrameLocks noGrp="1"/>
          </p:cNvGraphicFramePr>
          <p:nvPr/>
        </p:nvGraphicFramePr>
        <p:xfrm>
          <a:off x="548640" y="1325880"/>
          <a:ext cx="11091672" cy="3810000"/>
        </p:xfrm>
        <a:graphic>
          <a:graphicData uri="http://schemas.openxmlformats.org/drawingml/2006/table">
            <a:tbl>
              <a:tblPr firstRow="1">
                <a:tableStyleId>{5C22544A-7EE6-4342-B048-85BDC9FD1C3A}</a:tableStyleId>
              </a:tblPr>
              <a:tblGrid>
                <a:gridCol w="1554480"/>
                <a:gridCol w="9537192"/>
              </a:tblGrid>
              <a:tr h="359664">
                <a:tc>
                  <a:txBody>
                    <a:bodyPr wrap="square"/>
                    <a:lstStyle/>
                    <a:p>
                      <a:r>
                        <a:rPr sz="1400" b="1">
                          <a:solidFill>
                            <a:srgbClr val="FFFFFF"/>
                          </a:solidFill>
                          <a:latin typeface="Calibri"/>
                        </a:rPr>
                        <a:t>Symbol</a:t>
                      </a:r>
                    </a:p>
                  </a:txBody>
                  <a:tcPr marL="73152" marR="73152" marT="36576" marB="36576" anchor="ctr">
                    <a:solidFill>
                      <a:srgbClr val="2B2A28"/>
                    </a:solidFill>
                    <a:lnL w="0">
                      <a:noFill/>
                    </a:lnL>
                    <a:lnR w="0">
                      <a:noFill/>
                    </a:lnR>
                    <a:lnT w="0">
                      <a:noFill/>
                    </a:lnT>
                    <a:lnB w="9525">
                      <a:solidFill>
                        <a:srgbClr val="E4E3DF"/>
                      </a:solidFill>
                    </a:lnB>
                  </a:tcPr>
                </a:tc>
                <a:tc>
                  <a:txBody>
                    <a:bodyPr wrap="square"/>
                    <a:lstStyle/>
                    <a:p>
                      <a:r>
                        <a:rPr sz="1400" b="1">
                          <a:solidFill>
                            <a:srgbClr val="FFFFFF"/>
                          </a:solidFill>
                          <a:latin typeface="Calibri"/>
                        </a:rPr>
                        <a:t>Meaning</a:t>
                      </a:r>
                    </a:p>
                  </a:txBody>
                  <a:tcPr marL="73152" marR="73152" marT="36576" marB="36576" anchor="ctr">
                    <a:solidFill>
                      <a:srgbClr val="2B2A28"/>
                    </a:solidFill>
                    <a:lnL w="0">
                      <a:noFill/>
                    </a:lnL>
                    <a:lnR w="0">
                      <a:noFill/>
                    </a:lnR>
                    <a:lnT w="0">
                      <a:noFill/>
                    </a:lnT>
                    <a:lnB w="9525">
                      <a:solidFill>
                        <a:srgbClr val="E4E3DF"/>
                      </a:solidFill>
                    </a:lnB>
                  </a:tcPr>
                </a:tc>
              </a:tr>
              <a:tr h="359664">
                <a:tc>
                  <a:txBody>
                    <a:bodyPr wrap="square"/>
                    <a:lstStyle/>
                    <a:p>
                      <a:r>
                        <a:rPr sz="1400" b="1">
                          <a:solidFill>
                            <a:srgbClr val="0B0B0B"/>
                          </a:solidFill>
                          <a:latin typeface="Calibri"/>
                        </a:rPr>
                        <a:t>x, y, ψ</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rear-axle position and heading; x forward, y left, yaw counter-clockwise</a:t>
                      </a:r>
                    </a:p>
                  </a:txBody>
                  <a:tcPr marL="73152" marR="73152" marT="36576" marB="36576" anchor="ctr">
                    <a:solidFill>
                      <a:srgbClr val="FFFFFF"/>
                    </a:solidFill>
                    <a:lnL w="0">
                      <a:noFill/>
                    </a:lnL>
                    <a:lnR w="0">
                      <a:noFill/>
                    </a:lnR>
                    <a:lnT w="0">
                      <a:noFill/>
                    </a:lnT>
                    <a:lnB w="9525">
                      <a:solidFill>
                        <a:srgbClr val="E4E3DF"/>
                      </a:solidFill>
                    </a:lnB>
                  </a:tcPr>
                </a:tc>
              </a:tr>
              <a:tr h="359664">
                <a:tc>
                  <a:txBody>
                    <a:bodyPr wrap="square"/>
                    <a:lstStyle/>
                    <a:p>
                      <a:r>
                        <a:rPr sz="1400" b="1">
                          <a:solidFill>
                            <a:srgbClr val="0B0B0B"/>
                          </a:solidFill>
                          <a:latin typeface="Calibri"/>
                        </a:rPr>
                        <a:t>v</a:t>
                      </a:r>
                      <a:r>
                        <a:rPr sz="1400" b="1" baseline="-25000">
                          <a:solidFill>
                            <a:srgbClr val="0B0B0B"/>
                          </a:solidFill>
                          <a:latin typeface="Calibri"/>
                        </a:rPr>
                        <a:t>x</a:t>
                      </a:r>
                      <a:r>
                        <a:rPr sz="1400" b="1">
                          <a:solidFill>
                            <a:srgbClr val="0B0B0B"/>
                          </a:solidFill>
                          <a:latin typeface="Calibri"/>
                        </a:rPr>
                        <a:t>, v</a:t>
                      </a:r>
                      <a:r>
                        <a:rPr sz="1400" b="1" baseline="-25000">
                          <a:solidFill>
                            <a:srgbClr val="0B0B0B"/>
                          </a:solidFill>
                          <a:latin typeface="Calibri"/>
                        </a:rPr>
                        <a:t>y</a:t>
                      </a:r>
                      <a:r>
                        <a:rPr sz="1400" b="1">
                          <a:solidFill>
                            <a:srgbClr val="0B0B0B"/>
                          </a:solidFill>
                          <a:latin typeface="Calibri"/>
                        </a:rPr>
                        <a:t>, r</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body-frame velocity components at the CG and yaw rate (left and counter-clockwise positive)</a:t>
                      </a:r>
                    </a:p>
                  </a:txBody>
                  <a:tcPr marL="73152" marR="73152" marT="36576" marB="36576" anchor="ctr">
                    <a:solidFill>
                      <a:srgbClr val="FFFFFF"/>
                    </a:solidFill>
                    <a:lnL w="0">
                      <a:noFill/>
                    </a:lnL>
                    <a:lnR w="0">
                      <a:noFill/>
                    </a:lnR>
                    <a:lnT w="0">
                      <a:noFill/>
                    </a:lnT>
                    <a:lnB w="9525">
                      <a:solidFill>
                        <a:srgbClr val="E4E3DF"/>
                      </a:solidFill>
                    </a:lnB>
                  </a:tcPr>
                </a:tc>
              </a:tr>
              <a:tr h="359664">
                <a:tc>
                  <a:txBody>
                    <a:bodyPr wrap="square"/>
                    <a:lstStyle/>
                    <a:p>
                      <a:r>
                        <a:rPr sz="1400" b="1">
                          <a:solidFill>
                            <a:srgbClr val="0B0B0B"/>
                          </a:solidFill>
                          <a:latin typeface="Calibri"/>
                        </a:rPr>
                        <a:t>δ</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front wheel angle (left positive)</a:t>
                      </a:r>
                    </a:p>
                  </a:txBody>
                  <a:tcPr marL="73152" marR="73152" marT="36576" marB="36576" anchor="ctr">
                    <a:solidFill>
                      <a:srgbClr val="FFFFFF"/>
                    </a:solidFill>
                    <a:lnL w="0">
                      <a:noFill/>
                    </a:lnL>
                    <a:lnR w="0">
                      <a:noFill/>
                    </a:lnR>
                    <a:lnT w="0">
                      <a:noFill/>
                    </a:lnT>
                    <a:lnB w="9525">
                      <a:solidFill>
                        <a:srgbClr val="E4E3DF"/>
                      </a:solidFill>
                    </a:lnB>
                  </a:tcPr>
                </a:tc>
              </a:tr>
              <a:tr h="359664">
                <a:tc>
                  <a:txBody>
                    <a:bodyPr wrap="square"/>
                    <a:lstStyle/>
                    <a:p>
                      <a:r>
                        <a:rPr sz="1400" b="1">
                          <a:solidFill>
                            <a:srgbClr val="0B0B0B"/>
                          </a:solidFill>
                          <a:latin typeface="Calibri"/>
                        </a:rPr>
                        <a:t>a, b, L</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CG to front axle, CG to rear axle, wheelbase L = a + b</a:t>
                      </a:r>
                    </a:p>
                  </a:txBody>
                  <a:tcPr marL="73152" marR="73152" marT="36576" marB="36576" anchor="ctr">
                    <a:solidFill>
                      <a:srgbClr val="FFFFFF"/>
                    </a:solidFill>
                    <a:lnL w="0">
                      <a:noFill/>
                    </a:lnL>
                    <a:lnR w="0">
                      <a:noFill/>
                    </a:lnR>
                    <a:lnT w="0">
                      <a:noFill/>
                    </a:lnT>
                    <a:lnB w="9525">
                      <a:solidFill>
                        <a:srgbClr val="E4E3DF"/>
                      </a:solidFill>
                    </a:lnB>
                  </a:tcPr>
                </a:tc>
              </a:tr>
              <a:tr h="359664">
                <a:tc>
                  <a:txBody>
                    <a:bodyPr wrap="square"/>
                    <a:lstStyle/>
                    <a:p>
                      <a:r>
                        <a:rPr sz="1400" b="1">
                          <a:solidFill>
                            <a:srgbClr val="0B0B0B"/>
                          </a:solidFill>
                          <a:latin typeface="Calibri"/>
                        </a:rPr>
                        <a:t>α</a:t>
                      </a:r>
                      <a:r>
                        <a:rPr sz="1400" b="1" baseline="-25000">
                          <a:solidFill>
                            <a:srgbClr val="0B0B0B"/>
                          </a:solidFill>
                          <a:latin typeface="Calibri"/>
                        </a:rPr>
                        <a:t>f</a:t>
                      </a:r>
                      <a:r>
                        <a:rPr sz="1400" b="1">
                          <a:solidFill>
                            <a:srgbClr val="0B0B0B"/>
                          </a:solidFill>
                          <a:latin typeface="Calibri"/>
                        </a:rPr>
                        <a:t>, α</a:t>
                      </a:r>
                      <a:r>
                        <a:rPr sz="1400" b="1" baseline="-25000">
                          <a:solidFill>
                            <a:srgbClr val="0B0B0B"/>
                          </a:solidFill>
                          <a:latin typeface="Calibri"/>
                        </a:rPr>
                        <a:t>r</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tire slip angles; positive when the lateral force points left</a:t>
                      </a:r>
                    </a:p>
                  </a:txBody>
                  <a:tcPr marL="73152" marR="73152" marT="36576" marB="36576" anchor="ctr">
                    <a:solidFill>
                      <a:srgbClr val="FFFFFF"/>
                    </a:solidFill>
                    <a:lnL w="0">
                      <a:noFill/>
                    </a:lnL>
                    <a:lnR w="0">
                      <a:noFill/>
                    </a:lnR>
                    <a:lnT w="0">
                      <a:noFill/>
                    </a:lnT>
                    <a:lnB w="9525">
                      <a:solidFill>
                        <a:srgbClr val="E4E3DF"/>
                      </a:solidFill>
                    </a:lnB>
                  </a:tcPr>
                </a:tc>
              </a:tr>
              <a:tr h="573024">
                <a:tc>
                  <a:txBody>
                    <a:bodyPr wrap="square"/>
                    <a:lstStyle/>
                    <a:p>
                      <a:r>
                        <a:rPr sz="1400" b="1">
                          <a:solidFill>
                            <a:srgbClr val="0B0B0B"/>
                          </a:solidFill>
                          <a:latin typeface="Calibri"/>
                        </a:rPr>
                        <a:t>β</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body side slip: angle of the velocity of a point against the body x-axis (β</a:t>
                      </a:r>
                      <a:r>
                        <a:rPr sz="1400" b="0" baseline="-25000">
                          <a:solidFill>
                            <a:srgbClr val="0B0B0B"/>
                          </a:solidFill>
                          <a:latin typeface="Calibri"/>
                        </a:rPr>
                        <a:t>CG</a:t>
                      </a:r>
                      <a:r>
                        <a:rPr sz="1400" b="0">
                          <a:solidFill>
                            <a:srgbClr val="0B0B0B"/>
                          </a:solidFill>
                          <a:latin typeface="Calibri"/>
                        </a:rPr>
                        <a:t> at the CG, β</a:t>
                      </a:r>
                      <a:r>
                        <a:rPr sz="1400" b="0" baseline="-25000">
                          <a:solidFill>
                            <a:srgbClr val="0B0B0B"/>
                          </a:solidFill>
                          <a:latin typeface="Calibri"/>
                        </a:rPr>
                        <a:t>rear</a:t>
                      </a:r>
                      <a:r>
                        <a:rPr sz="1400" b="0">
                          <a:solidFill>
                            <a:srgbClr val="0B0B0B"/>
                          </a:solidFill>
                          <a:latin typeface="Calibri"/>
                        </a:rPr>
                        <a:t> at the rear axle)</a:t>
                      </a:r>
                    </a:p>
                  </a:txBody>
                  <a:tcPr marL="73152" marR="73152" marT="36576" marB="36576" anchor="ctr">
                    <a:solidFill>
                      <a:srgbClr val="FFFFFF"/>
                    </a:solidFill>
                    <a:lnL w="0">
                      <a:noFill/>
                    </a:lnL>
                    <a:lnR w="0">
                      <a:noFill/>
                    </a:lnR>
                    <a:lnT w="0">
                      <a:noFill/>
                    </a:lnT>
                    <a:lnB w="9525">
                      <a:solidFill>
                        <a:srgbClr val="E4E3DF"/>
                      </a:solidFill>
                    </a:lnB>
                  </a:tcPr>
                </a:tc>
              </a:tr>
              <a:tr h="359664">
                <a:tc>
                  <a:txBody>
                    <a:bodyPr wrap="square"/>
                    <a:lstStyle/>
                    <a:p>
                      <a:r>
                        <a:rPr sz="1400" b="1">
                          <a:solidFill>
                            <a:srgbClr val="0B0B0B"/>
                          </a:solidFill>
                          <a:latin typeface="Calibri"/>
                        </a:rPr>
                        <a:t>C</a:t>
                      </a:r>
                      <a:r>
                        <a:rPr sz="1400" b="1" baseline="-25000">
                          <a:solidFill>
                            <a:srgbClr val="0B0B0B"/>
                          </a:solidFill>
                          <a:latin typeface="Calibri"/>
                        </a:rPr>
                        <a:t>f</a:t>
                      </a:r>
                      <a:r>
                        <a:rPr sz="1400" b="1">
                          <a:solidFill>
                            <a:srgbClr val="0B0B0B"/>
                          </a:solidFill>
                          <a:latin typeface="Calibri"/>
                        </a:rPr>
                        <a:t>, C</a:t>
                      </a:r>
                      <a:r>
                        <a:rPr sz="1400" b="1" baseline="-25000">
                          <a:solidFill>
                            <a:srgbClr val="0B0B0B"/>
                          </a:solidFill>
                          <a:latin typeface="Calibri"/>
                        </a:rPr>
                        <a:t>r</a:t>
                      </a:r>
                      <a:r>
                        <a:rPr sz="1400" b="1">
                          <a:solidFill>
                            <a:srgbClr val="0B0B0B"/>
                          </a:solidFill>
                          <a:latin typeface="Calibri"/>
                        </a:rPr>
                        <a:t>, μ</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axle cornering stiffnesses (N/rad), friction coefficient</a:t>
                      </a:r>
                    </a:p>
                  </a:txBody>
                  <a:tcPr marL="73152" marR="73152" marT="36576" marB="36576" anchor="ctr">
                    <a:solidFill>
                      <a:srgbClr val="FFFFFF"/>
                    </a:solidFill>
                    <a:lnL w="0">
                      <a:noFill/>
                    </a:lnL>
                    <a:lnR w="0">
                      <a:noFill/>
                    </a:lnR>
                    <a:lnT w="0">
                      <a:noFill/>
                    </a:lnT>
                    <a:lnB w="9525">
                      <a:solidFill>
                        <a:srgbClr val="E4E3DF"/>
                      </a:solidFill>
                    </a:lnB>
                  </a:tcPr>
                </a:tc>
              </a:tr>
              <a:tr h="359664">
                <a:tc>
                  <a:txBody>
                    <a:bodyPr wrap="square"/>
                    <a:lstStyle/>
                    <a:p>
                      <a:r>
                        <a:rPr sz="1400" b="1">
                          <a:solidFill>
                            <a:srgbClr val="0B0B0B"/>
                          </a:solidFill>
                          <a:latin typeface="Calibri"/>
                        </a:rPr>
                        <a:t>a</a:t>
                      </a:r>
                      <a:r>
                        <a:rPr sz="1400" b="1" baseline="-25000">
                          <a:solidFill>
                            <a:srgbClr val="0B0B0B"/>
                          </a:solidFill>
                          <a:latin typeface="Calibri"/>
                        </a:rPr>
                        <a:t>y</a:t>
                      </a:r>
                      <a:r>
                        <a:rPr sz="1400" b="1">
                          <a:solidFill>
                            <a:srgbClr val="0B0B0B"/>
                          </a:solidFill>
                          <a:latin typeface="Calibri"/>
                        </a:rPr>
                        <a:t>, R, K</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lateral acceleration, radius of the rear axle's path, understeer gradient</a:t>
                      </a:r>
                    </a:p>
                  </a:txBody>
                  <a:tcPr marL="73152" marR="73152" marT="36576" marB="36576" anchor="ctr">
                    <a:solidFill>
                      <a:srgbClr val="FFFFFF"/>
                    </a:solidFill>
                    <a:lnL w="0">
                      <a:noFill/>
                    </a:lnL>
                    <a:lnR w="0">
                      <a:noFill/>
                    </a:lnR>
                    <a:lnT w="0">
                      <a:noFill/>
                    </a:lnT>
                    <a:lnB w="9525">
                      <a:solidFill>
                        <a:srgbClr val="E4E3DF"/>
                      </a:solidFill>
                    </a:lnB>
                  </a:tcPr>
                </a:tc>
              </a:tr>
              <a:tr h="359664">
                <a:tc>
                  <a:txBody>
                    <a:bodyPr wrap="square"/>
                    <a:lstStyle/>
                    <a:p>
                      <a:r>
                        <a:rPr sz="1400" b="1">
                          <a:solidFill>
                            <a:srgbClr val="0B0B0B"/>
                          </a:solidFill>
                          <a:latin typeface="Calibri"/>
                        </a:rPr>
                        <a:t>Reverse</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slip is defined with |v</a:t>
                      </a:r>
                      <a:r>
                        <a:rPr sz="1400" b="0" baseline="-25000">
                          <a:solidFill>
                            <a:srgbClr val="0B0B0B"/>
                          </a:solidFill>
                          <a:latin typeface="Calibri"/>
                        </a:rPr>
                        <a:t>long</a:t>
                      </a:r>
                      <a:r>
                        <a:rPr sz="1400" b="0">
                          <a:solidFill>
                            <a:srgbClr val="0B0B0B"/>
                          </a:solidFill>
                          <a:latin typeface="Calibri"/>
                        </a:rPr>
                        <a:t>| of the wheel; relations flip sign (tested)</a:t>
                      </a:r>
                    </a:p>
                  </a:txBody>
                  <a:tcPr marL="73152" marR="73152" marT="36576" marB="36576" anchor="ctr">
                    <a:solidFill>
                      <a:srgbClr val="FFFFFF"/>
                    </a:solidFill>
                    <a:lnL w="0">
                      <a:noFill/>
                    </a:lnL>
                    <a:lnR w="0">
                      <a:noFill/>
                    </a:lnR>
                    <a:lnT w="0">
                      <a:noFill/>
                    </a:lnT>
                    <a:lnB w="9525">
                      <a:solidFill>
                        <a:srgbClr val="E4E3DF"/>
                      </a:solidFill>
                    </a:lnB>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1051560"/>
          </a:xfrm>
          <a:prstGeom prst="rect">
            <a:avLst/>
          </a:prstGeom>
          <a:noFill/>
        </p:spPr>
        <p:txBody>
          <a:bodyPr wrap="square" anchor="t" lIns="45720" rIns="45720" tIns="27432" bIns="27432">
            <a:spAutoFit/>
          </a:bodyPr>
          <a:lstStyle/>
          <a:p>
            <a:pPr>
              <a:spcAft>
                <a:spcPts val="0"/>
              </a:spcAft>
            </a:pPr>
            <a:r>
              <a:rPr sz="2800" b="1">
                <a:solidFill>
                  <a:srgbClr val="0B0B0B"/>
                </a:solidFill>
                <a:latin typeface="Calibri"/>
              </a:rPr>
              <a:t>Appendix A2: the assumed parameters behind every number</a:t>
            </a:r>
          </a:p>
        </p:txBody>
      </p:sp>
      <p:sp>
        <p:nvSpPr>
          <p:cNvPr id="3" name="TextBox 2"/>
          <p:cNvSpPr txBox="1"/>
          <p:nvPr/>
        </p:nvSpPr>
        <p:spPr>
          <a:xfrm>
            <a:off x="548640" y="6446520"/>
            <a:ext cx="7315200" cy="274320"/>
          </a:xfrm>
          <a:prstGeom prst="rect">
            <a:avLst/>
          </a:prstGeom>
          <a:noFill/>
        </p:spPr>
        <p:txBody>
          <a:bodyPr wrap="square" anchor="t" lIns="45720" rIns="45720" tIns="27432" bIns="27432">
            <a:spAutoFit/>
          </a:bodyPr>
          <a:lstStyle/>
          <a:p>
            <a:pPr>
              <a:spcAft>
                <a:spcPts val="0"/>
              </a:spcAft>
            </a:pPr>
            <a:r>
              <a:rPr sz="1000" b="0">
                <a:solidFill>
                  <a:srgbClr val="52514E"/>
                </a:solidFill>
                <a:latin typeface="Calibri"/>
              </a:rPr>
              <a:t>parking_sim · side slip: kinematic and dynamic bicycle model</a:t>
            </a:r>
          </a:p>
        </p:txBody>
      </p:sp>
      <p:sp>
        <p:nvSpPr>
          <p:cNvPr id="4" name="TextBox 3"/>
          <p:cNvSpPr txBox="1"/>
          <p:nvPr/>
        </p:nvSpPr>
        <p:spPr>
          <a:xfrm>
            <a:off x="10728655" y="6446520"/>
            <a:ext cx="914400" cy="274320"/>
          </a:xfrm>
          <a:prstGeom prst="rect">
            <a:avLst/>
          </a:prstGeom>
          <a:noFill/>
        </p:spPr>
        <p:txBody>
          <a:bodyPr wrap="square" anchor="t" lIns="45720" rIns="45720" tIns="27432" bIns="27432">
            <a:spAutoFit/>
          </a:bodyPr>
          <a:lstStyle/>
          <a:p>
            <a:pPr algn="r">
              <a:spcAft>
                <a:spcPts val="0"/>
              </a:spcAft>
            </a:pPr>
            <a:r>
              <a:rPr sz="1000" b="0">
                <a:solidFill>
                  <a:srgbClr val="52514E"/>
                </a:solidFill>
                <a:latin typeface="Calibri"/>
              </a:rPr>
              <a:t>16</a:t>
            </a:r>
          </a:p>
        </p:txBody>
      </p:sp>
      <p:graphicFrame>
        <p:nvGraphicFramePr>
          <p:cNvPr id="5" name="Table 4"/>
          <p:cNvGraphicFramePr>
            <a:graphicFrameLocks noGrp="1"/>
          </p:cNvGraphicFramePr>
          <p:nvPr/>
        </p:nvGraphicFramePr>
        <p:xfrm>
          <a:off x="548640" y="1325880"/>
          <a:ext cx="11091672" cy="3596640"/>
        </p:xfrm>
        <a:graphic>
          <a:graphicData uri="http://schemas.openxmlformats.org/drawingml/2006/table">
            <a:tbl>
              <a:tblPr firstRow="1">
                <a:tableStyleId>{5C22544A-7EE6-4342-B048-85BDC9FD1C3A}</a:tableStyleId>
              </a:tblPr>
              <a:tblGrid>
                <a:gridCol w="3291840"/>
                <a:gridCol w="2560320"/>
                <a:gridCol w="5239512"/>
              </a:tblGrid>
              <a:tr h="359664">
                <a:tc>
                  <a:txBody>
                    <a:bodyPr wrap="square"/>
                    <a:lstStyle/>
                    <a:p>
                      <a:r>
                        <a:rPr sz="1400" b="1">
                          <a:solidFill>
                            <a:srgbClr val="FFFFFF"/>
                          </a:solidFill>
                          <a:latin typeface="Calibri"/>
                        </a:rPr>
                        <a:t>Parameter</a:t>
                      </a:r>
                    </a:p>
                  </a:txBody>
                  <a:tcPr marL="73152" marR="73152" marT="36576" marB="36576" anchor="ctr">
                    <a:solidFill>
                      <a:srgbClr val="2B2A28"/>
                    </a:solidFill>
                    <a:lnL w="0">
                      <a:noFill/>
                    </a:lnL>
                    <a:lnR w="0">
                      <a:noFill/>
                    </a:lnR>
                    <a:lnT w="0">
                      <a:noFill/>
                    </a:lnT>
                    <a:lnB w="9525">
                      <a:solidFill>
                        <a:srgbClr val="E4E3DF"/>
                      </a:solidFill>
                    </a:lnB>
                  </a:tcPr>
                </a:tc>
                <a:tc>
                  <a:txBody>
                    <a:bodyPr wrap="square"/>
                    <a:lstStyle/>
                    <a:p>
                      <a:r>
                        <a:rPr sz="1400" b="1">
                          <a:solidFill>
                            <a:srgbClr val="FFFFFF"/>
                          </a:solidFill>
                          <a:latin typeface="Calibri"/>
                        </a:rPr>
                        <a:t>Value</a:t>
                      </a:r>
                    </a:p>
                  </a:txBody>
                  <a:tcPr marL="73152" marR="73152" marT="36576" marB="36576" anchor="ctr">
                    <a:solidFill>
                      <a:srgbClr val="2B2A28"/>
                    </a:solidFill>
                    <a:lnL w="0">
                      <a:noFill/>
                    </a:lnL>
                    <a:lnR w="0">
                      <a:noFill/>
                    </a:lnR>
                    <a:lnT w="0">
                      <a:noFill/>
                    </a:lnT>
                    <a:lnB w="9525">
                      <a:solidFill>
                        <a:srgbClr val="E4E3DF"/>
                      </a:solidFill>
                    </a:lnB>
                  </a:tcPr>
                </a:tc>
                <a:tc>
                  <a:txBody>
                    <a:bodyPr wrap="square"/>
                    <a:lstStyle/>
                    <a:p>
                      <a:r>
                        <a:rPr sz="1400" b="1">
                          <a:solidFill>
                            <a:srgbClr val="FFFFFF"/>
                          </a:solidFill>
                          <a:latin typeface="Calibri"/>
                        </a:rPr>
                        <a:t>Note</a:t>
                      </a:r>
                    </a:p>
                  </a:txBody>
                  <a:tcPr marL="73152" marR="73152" marT="36576" marB="36576" anchor="ctr">
                    <a:solidFill>
                      <a:srgbClr val="2B2A28"/>
                    </a:solidFill>
                    <a:lnL w="0">
                      <a:noFill/>
                    </a:lnL>
                    <a:lnR w="0">
                      <a:noFill/>
                    </a:lnR>
                    <a:lnT w="0">
                      <a:noFill/>
                    </a:lnT>
                    <a:lnB w="9525">
                      <a:solidFill>
                        <a:srgbClr val="E4E3DF"/>
                      </a:solidFill>
                    </a:lnB>
                  </a:tcPr>
                </a:tc>
              </a:tr>
              <a:tr h="359664">
                <a:tc>
                  <a:txBody>
                    <a:bodyPr wrap="square"/>
                    <a:lstStyle/>
                    <a:p>
                      <a:r>
                        <a:rPr sz="1400" b="1">
                          <a:solidFill>
                            <a:srgbClr val="0B0B0B"/>
                          </a:solidFill>
                          <a:latin typeface="Calibri"/>
                        </a:rPr>
                        <a:t>Wheelbase L</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2.7 m</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the simulator's VehicleParams</a:t>
                      </a:r>
                    </a:p>
                  </a:txBody>
                  <a:tcPr marL="73152" marR="73152" marT="36576" marB="36576" anchor="ctr">
                    <a:solidFill>
                      <a:srgbClr val="FFFFFF"/>
                    </a:solidFill>
                    <a:lnL w="0">
                      <a:noFill/>
                    </a:lnL>
                    <a:lnR w="0">
                      <a:noFill/>
                    </a:lnR>
                    <a:lnT w="0">
                      <a:noFill/>
                    </a:lnT>
                    <a:lnB w="9525">
                      <a:solidFill>
                        <a:srgbClr val="E4E3DF"/>
                      </a:solidFill>
                    </a:lnB>
                  </a:tcPr>
                </a:tc>
              </a:tr>
              <a:tr h="359664">
                <a:tc>
                  <a:txBody>
                    <a:bodyPr wrap="square"/>
                    <a:lstStyle/>
                    <a:p>
                      <a:r>
                        <a:rPr sz="1400" b="1">
                          <a:solidFill>
                            <a:srgbClr val="0B0B0B"/>
                          </a:solidFill>
                          <a:latin typeface="Calibri"/>
                        </a:rPr>
                        <a:t>Mass m</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1500 kg</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typical mid-size sedan, assumed</a:t>
                      </a:r>
                    </a:p>
                  </a:txBody>
                  <a:tcPr marL="73152" marR="73152" marT="36576" marB="36576" anchor="ctr">
                    <a:solidFill>
                      <a:srgbClr val="FFFFFF"/>
                    </a:solidFill>
                    <a:lnL w="0">
                      <a:noFill/>
                    </a:lnL>
                    <a:lnR w="0">
                      <a:noFill/>
                    </a:lnR>
                    <a:lnT w="0">
                      <a:noFill/>
                    </a:lnT>
                    <a:lnB w="9525">
                      <a:solidFill>
                        <a:srgbClr val="E4E3DF"/>
                      </a:solidFill>
                    </a:lnB>
                  </a:tcPr>
                </a:tc>
              </a:tr>
              <a:tr h="359664">
                <a:tc>
                  <a:txBody>
                    <a:bodyPr wrap="square"/>
                    <a:lstStyle/>
                    <a:p>
                      <a:r>
                        <a:rPr sz="1400" b="1">
                          <a:solidFill>
                            <a:srgbClr val="0B0B0B"/>
                          </a:solidFill>
                          <a:latin typeface="Calibri"/>
                        </a:rPr>
                        <a:t>CG to front / rear axle  a, b</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1.2 m, 1.5 m</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front-heavy, 55.6 % of the weight on the front</a:t>
                      </a:r>
                    </a:p>
                  </a:txBody>
                  <a:tcPr marL="73152" marR="73152" marT="36576" marB="36576" anchor="ctr">
                    <a:solidFill>
                      <a:srgbClr val="FFFFFF"/>
                    </a:solidFill>
                    <a:lnL w="0">
                      <a:noFill/>
                    </a:lnL>
                    <a:lnR w="0">
                      <a:noFill/>
                    </a:lnR>
                    <a:lnT w="0">
                      <a:noFill/>
                    </a:lnT>
                    <a:lnB w="9525">
                      <a:solidFill>
                        <a:srgbClr val="E4E3DF"/>
                      </a:solidFill>
                    </a:lnB>
                  </a:tcPr>
                </a:tc>
              </a:tr>
              <a:tr h="359664">
                <a:tc>
                  <a:txBody>
                    <a:bodyPr wrap="square"/>
                    <a:lstStyle/>
                    <a:p>
                      <a:r>
                        <a:rPr sz="1400" b="1">
                          <a:solidFill>
                            <a:srgbClr val="0B0B0B"/>
                          </a:solidFill>
                          <a:latin typeface="Calibri"/>
                        </a:rPr>
                        <a:t>Cornering stiffness C</a:t>
                      </a:r>
                      <a:r>
                        <a:rPr sz="1400" b="1" baseline="-25000">
                          <a:solidFill>
                            <a:srgbClr val="0B0B0B"/>
                          </a:solidFill>
                          <a:latin typeface="Calibri"/>
                        </a:rPr>
                        <a:t>f</a:t>
                      </a:r>
                      <a:r>
                        <a:rPr sz="1400" b="1">
                          <a:solidFill>
                            <a:srgbClr val="0B0B0B"/>
                          </a:solidFill>
                          <a:latin typeface="Calibri"/>
                        </a:rPr>
                        <a:t>, C</a:t>
                      </a:r>
                      <a:r>
                        <a:rPr sz="1400" b="1" baseline="-25000">
                          <a:solidFill>
                            <a:srgbClr val="0B0B0B"/>
                          </a:solidFill>
                          <a:latin typeface="Calibri"/>
                        </a:rPr>
                        <a:t>r</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80, 90 kN/rad</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per axle, assumed</a:t>
                      </a:r>
                    </a:p>
                  </a:txBody>
                  <a:tcPr marL="73152" marR="73152" marT="36576" marB="36576" anchor="ctr">
                    <a:solidFill>
                      <a:srgbClr val="FFFFFF"/>
                    </a:solidFill>
                    <a:lnL w="0">
                      <a:noFill/>
                    </a:lnL>
                    <a:lnR w="0">
                      <a:noFill/>
                    </a:lnR>
                    <a:lnT w="0">
                      <a:noFill/>
                    </a:lnT>
                    <a:lnB w="9525">
                      <a:solidFill>
                        <a:srgbClr val="E4E3DF"/>
                      </a:solidFill>
                    </a:lnB>
                  </a:tcPr>
                </a:tc>
              </a:tr>
              <a:tr h="359664">
                <a:tc>
                  <a:txBody>
                    <a:bodyPr wrap="square"/>
                    <a:lstStyle/>
                    <a:p>
                      <a:r>
                        <a:rPr sz="1400" b="1">
                          <a:solidFill>
                            <a:srgbClr val="0B0B0B"/>
                          </a:solidFill>
                          <a:latin typeface="Calibri"/>
                        </a:rPr>
                        <a:t>Friction coefficient μ</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0.9</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dry asphalt; μ·g = 8.8 m/s²</a:t>
                      </a:r>
                    </a:p>
                  </a:txBody>
                  <a:tcPr marL="73152" marR="73152" marT="36576" marB="36576" anchor="ctr">
                    <a:solidFill>
                      <a:srgbClr val="FFFFFF"/>
                    </a:solidFill>
                    <a:lnL w="0">
                      <a:noFill/>
                    </a:lnL>
                    <a:lnR w="0">
                      <a:noFill/>
                    </a:lnR>
                    <a:lnT w="0">
                      <a:noFill/>
                    </a:lnT>
                    <a:lnB w="9525">
                      <a:solidFill>
                        <a:srgbClr val="E4E3DF"/>
                      </a:solidFill>
                    </a:lnB>
                  </a:tcPr>
                </a:tc>
              </a:tr>
              <a:tr h="359664">
                <a:tc>
                  <a:txBody>
                    <a:bodyPr wrap="square"/>
                    <a:lstStyle/>
                    <a:p>
                      <a:r>
                        <a:rPr sz="1400" b="1">
                          <a:solidFill>
                            <a:srgbClr val="0B0B0B"/>
                          </a:solidFill>
                          <a:latin typeface="Calibri"/>
                        </a:rPr>
                        <a:t>Understeer gradient K</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0.0030 rad per m/s²</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(m / L)(b / C</a:t>
                      </a:r>
                      <a:r>
                        <a:rPr sz="1400" b="0" baseline="-25000">
                          <a:solidFill>
                            <a:srgbClr val="0B0B0B"/>
                          </a:solidFill>
                          <a:latin typeface="Calibri"/>
                        </a:rPr>
                        <a:t>f</a:t>
                      </a:r>
                      <a:r>
                        <a:rPr sz="1400" b="0">
                          <a:solidFill>
                            <a:srgbClr val="0B0B0B"/>
                          </a:solidFill>
                          <a:latin typeface="Calibri"/>
                        </a:rPr>
                        <a:t> − a / C</a:t>
                      </a:r>
                      <a:r>
                        <a:rPr sz="1400" b="0" baseline="-25000">
                          <a:solidFill>
                            <a:srgbClr val="0B0B0B"/>
                          </a:solidFill>
                          <a:latin typeface="Calibri"/>
                        </a:rPr>
                        <a:t>r</a:t>
                      </a:r>
                      <a:r>
                        <a:rPr sz="1400" b="0">
                          <a:solidFill>
                            <a:srgbClr val="0B0B0B"/>
                          </a:solidFill>
                          <a:latin typeface="Calibri"/>
                        </a:rPr>
                        <a:t>)</a:t>
                      </a:r>
                    </a:p>
                  </a:txBody>
                  <a:tcPr marL="73152" marR="73152" marT="36576" marB="36576" anchor="ctr">
                    <a:solidFill>
                      <a:srgbClr val="FFFFFF"/>
                    </a:solidFill>
                    <a:lnL w="0">
                      <a:noFill/>
                    </a:lnL>
                    <a:lnR w="0">
                      <a:noFill/>
                    </a:lnR>
                    <a:lnT w="0">
                      <a:noFill/>
                    </a:lnT>
                    <a:lnB w="9525">
                      <a:solidFill>
                        <a:srgbClr val="E4E3DF"/>
                      </a:solidFill>
                    </a:lnB>
                  </a:tcPr>
                </a:tc>
              </a:tr>
              <a:tr h="359664">
                <a:tc>
                  <a:txBody>
                    <a:bodyPr wrap="square"/>
                    <a:lstStyle/>
                    <a:p>
                      <a:r>
                        <a:rPr sz="1400" b="1">
                          <a:solidFill>
                            <a:srgbClr val="0B0B0B"/>
                          </a:solidFill>
                          <a:latin typeface="Calibri"/>
                        </a:rPr>
                        <a:t>EKF steer_model_sigma</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0.003 rad/s</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EkfParams in fusion/</a:t>
                      </a:r>
                    </a:p>
                  </a:txBody>
                  <a:tcPr marL="73152" marR="73152" marT="36576" marB="36576" anchor="ctr">
                    <a:solidFill>
                      <a:srgbClr val="FFFFFF"/>
                    </a:solidFill>
                    <a:lnL w="0">
                      <a:noFill/>
                    </a:lnL>
                    <a:lnR w="0">
                      <a:noFill/>
                    </a:lnR>
                    <a:lnT w="0">
                      <a:noFill/>
                    </a:lnT>
                    <a:lnB w="9525">
                      <a:solidFill>
                        <a:srgbClr val="E4E3DF"/>
                      </a:solidFill>
                    </a:lnB>
                  </a:tcPr>
                </a:tc>
              </a:tr>
              <a:tr h="359664">
                <a:tc>
                  <a:txBody>
                    <a:bodyPr wrap="square"/>
                    <a:lstStyle/>
                    <a:p>
                      <a:r>
                        <a:rPr sz="1400" b="1">
                          <a:solidFill>
                            <a:srgbClr val="0B0B0B"/>
                          </a:solidFill>
                          <a:latin typeface="Calibri"/>
                        </a:rPr>
                        <a:t>Simulation tick</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10 ms</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RK4; limit |λ|·dt &lt; 2.785</a:t>
                      </a:r>
                    </a:p>
                  </a:txBody>
                  <a:tcPr marL="73152" marR="73152" marT="36576" marB="36576" anchor="ctr">
                    <a:solidFill>
                      <a:srgbClr val="FFFFFF"/>
                    </a:solidFill>
                    <a:lnL w="0">
                      <a:noFill/>
                    </a:lnL>
                    <a:lnR w="0">
                      <a:noFill/>
                    </a:lnR>
                    <a:lnT w="0">
                      <a:noFill/>
                    </a:lnT>
                    <a:lnB w="9525">
                      <a:solidFill>
                        <a:srgbClr val="E4E3DF"/>
                      </a:solidFill>
                    </a:lnB>
                  </a:tcPr>
                </a:tc>
              </a:tr>
              <a:tr h="359664">
                <a:tc>
                  <a:txBody>
                    <a:bodyPr wrap="square"/>
                    <a:lstStyle/>
                    <a:p>
                      <a:r>
                        <a:rPr sz="1400" b="1">
                          <a:solidFill>
                            <a:srgbClr val="0B0B0B"/>
                          </a:solidFill>
                          <a:latin typeface="Calibri"/>
                        </a:rPr>
                        <a:t>Relaxation length σ (option B)</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0.4 m</a:t>
                      </a:r>
                    </a:p>
                  </a:txBody>
                  <a:tcPr marL="73152" marR="73152" marT="36576" marB="36576" anchor="ctr">
                    <a:solidFill>
                      <a:srgbClr val="FFFFFF"/>
                    </a:solidFill>
                    <a:lnL w="0">
                      <a:noFill/>
                    </a:lnL>
                    <a:lnR w="0">
                      <a:noFill/>
                    </a:lnR>
                    <a:lnT w="0">
                      <a:noFill/>
                    </a:lnT>
                    <a:lnB w="9525">
                      <a:solidFill>
                        <a:srgbClr val="E4E3DF"/>
                      </a:solidFill>
                    </a:lnB>
                  </a:tcPr>
                </a:tc>
                <a:tc>
                  <a:txBody>
                    <a:bodyPr wrap="square"/>
                    <a:lstStyle/>
                    <a:p>
                      <a:r>
                        <a:rPr sz="1400" b="0">
                          <a:solidFill>
                            <a:srgbClr val="0B0B0B"/>
                          </a:solidFill>
                          <a:latin typeface="Calibri"/>
                        </a:rPr>
                        <a:t>assumed; spring rate C / σ</a:t>
                      </a:r>
                    </a:p>
                  </a:txBody>
                  <a:tcPr marL="73152" marR="73152" marT="36576" marB="36576" anchor="ctr">
                    <a:solidFill>
                      <a:srgbClr val="FFFFFF"/>
                    </a:solidFill>
                    <a:lnL w="0">
                      <a:noFill/>
                    </a:lnL>
                    <a:lnR w="0">
                      <a:noFill/>
                    </a:lnR>
                    <a:lnT w="0">
                      <a:noFill/>
                    </a:lnT>
                    <a:lnB w="9525">
                      <a:solidFill>
                        <a:srgbClr val="E4E3DF"/>
                      </a:solidFill>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