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State vector of the EKF in fusion/ekf.hpp: x, y, yaw, v, gyro bias b, odometry scale k.</a:t>
            </a:r>
          </a:p>
          <a:p>
            <a:r>
              <a:t>Predict (100 Hz): yaw' = gyro - b, v' = accelerometer; x and y integrate v and yaw.</a:t>
            </a:r>
          </a:p>
          <a:p>
            <a:r>
              <a:t>Update (scalar, chi-square gated, Joseph form): wheel speed over 0.2 s windows, z = k*(v - a*W/2); steering angle, gyro = b + v*tan(delta)/L.</a:t>
            </a:r>
          </a:p>
          <a:p>
            <a:r>
              <a:t>estimate() exposes x, y, yaw, v and the 4x4 covariance block; b and k stay inside the filter.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 = wheel speed computed from ticks / true speed. Real wheels differ from the nominal 0.30 m radius.</a:t>
            </a:r>
          </a:p>
          <a:p>
            <a:r>
              <a:t>Why a state: on a constant-steering circle a 1% speed error looks like ~0.002 rad/s of gyro bias, so without k the steering update blamed the gyro (EKF worse than dead reckoning in some seeds, 3-sigma coverage as low as 44%). With k the covariance covered the real error in all 18 test runs.</a:t>
            </a:r>
          </a:p>
          <a:p>
            <a:r>
              <a:t>Estimation: measurement z = k*(v - a*W/2), Jacobian [0 0 0 k 0 v_mean]. v comes from the integrated accelerometer starting from rest (prior 5 mm/s). At constant speed only k*v is measured, so k is not observable there.</a:t>
            </a:r>
          </a:p>
          <a:p>
            <a:r>
              <a:t>Chart: synthetic drive, wheels 3% larger (true k = 0.970), prior sigma 3%, 3 s ramp to 2 m/s, six noise seeds. Mean 0.9705 at 3 s and 0.9755 at 12 s; individual seeds 0.969 to 0.987 at 12 s; reported sigma 0.6%, so the spread is a bit larger than the filter admits.</a:t>
            </a:r>
          </a:p>
          <a:p>
            <a:r>
              <a:t>Tiles: scenario S1 (circle), mean over six seeds of the EKF position RMSE divided by dead reckoning's.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itle 1"/>
          <p:cNvSpPr>
            <a:spLocks noGrp="1"/>
          </p:cNvSpPr>
          <p:nvPr>
            <p:ph type="title"/>
          </p:nvPr>
        </p:nvSpPr>
        <p:spPr>
          <a:xfrm>
            <a:off x="548640" y="320040"/>
            <a:ext cx="11064240" cy="685800"/>
          </a:xfrm>
        </p:spPr>
        <p:txBody>
          <a:bodyPr wrap="square" lIns="0" rIns="0" tIns="0" bIns="0" anchor="ctr"/>
          <a:lstStyle/>
          <a:p>
            <a:pPr algn="l">
              <a:spcBef>
                <a:spcPts val="0"/>
              </a:spcBef>
              <a:spcAft>
                <a:spcPts val="0"/>
              </a:spcAft>
            </a:pPr>
            <a:r>
              <a:rPr sz="2600" b="1" i="0">
                <a:solidFill>
                  <a:srgbClr val="0B0B0B"/>
                </a:solidFill>
                <a:latin typeface="Calibri"/>
              </a:rPr>
              <a:t>The EKF tracks six states; the rest of the system sees four</a:t>
            </a:r>
          </a:p>
        </p:txBody>
      </p:sp>
      <p:sp>
        <p:nvSpPr>
          <p:cNvPr id="3" name="TextBox 2"/>
          <p:cNvSpPr txBox="1"/>
          <p:nvPr/>
        </p:nvSpPr>
        <p:spPr>
          <a:xfrm>
            <a:off x="548640" y="987552"/>
            <a:ext cx="11064240" cy="365760"/>
          </a:xfrm>
          <a:prstGeom prst="rect">
            <a:avLst/>
          </a:prstGeom>
          <a:noFill/>
        </p:spPr>
        <p:txBody>
          <a:bodyPr wrap="square" lIns="0" rIns="0" tIns="0" bIns="0" anchor="t"/>
          <a:lstStyle/>
          <a:p>
            <a:pPr algn="l">
              <a:spcBef>
                <a:spcPts val="0"/>
              </a:spcBef>
              <a:spcAft>
                <a:spcPts val="0"/>
              </a:spcAft>
            </a:pPr>
            <a:r>
              <a:rPr sz="1400" b="0" i="0">
                <a:solidFill>
                  <a:srgbClr val="52514E"/>
                </a:solidFill>
                <a:latin typeface="Calibri"/>
              </a:rPr>
              <a:t>State vector of fusion/Ekf, with the sensor that drives or corrects each state</a:t>
            </a:r>
          </a:p>
        </p:txBody>
      </p:sp>
      <p:sp>
        <p:nvSpPr>
          <p:cNvPr id="4" name="TextBox 3"/>
          <p:cNvSpPr txBox="1"/>
          <p:nvPr/>
        </p:nvSpPr>
        <p:spPr>
          <a:xfrm>
            <a:off x="548640" y="1517904"/>
            <a:ext cx="2743200" cy="274320"/>
          </a:xfrm>
          <a:prstGeom prst="rect">
            <a:avLst/>
          </a:prstGeom>
          <a:noFill/>
        </p:spPr>
        <p:txBody>
          <a:bodyPr wrap="square" lIns="0" rIns="0" tIns="0" bIns="0" anchor="t"/>
          <a:lstStyle/>
          <a:p>
            <a:pPr algn="l">
              <a:spcBef>
                <a:spcPts val="0"/>
              </a:spcBef>
              <a:spcAft>
                <a:spcPts val="0"/>
              </a:spcAft>
            </a:pPr>
            <a:r>
              <a:rPr sz="1100" b="1" i="0">
                <a:solidFill>
                  <a:srgbClr val="52514E"/>
                </a:solidFill>
                <a:latin typeface="Calibri"/>
              </a:rPr>
              <a:t>SENSORS</a:t>
            </a:r>
          </a:p>
        </p:txBody>
      </p:sp>
      <p:sp>
        <p:nvSpPr>
          <p:cNvPr id="5" name="TextBox 4"/>
          <p:cNvSpPr txBox="1"/>
          <p:nvPr/>
        </p:nvSpPr>
        <p:spPr>
          <a:xfrm>
            <a:off x="4937760" y="1517904"/>
            <a:ext cx="2651760" cy="274320"/>
          </a:xfrm>
          <a:prstGeom prst="rect">
            <a:avLst/>
          </a:prstGeom>
          <a:noFill/>
        </p:spPr>
        <p:txBody>
          <a:bodyPr wrap="square" lIns="0" rIns="0" tIns="0" bIns="0" anchor="t"/>
          <a:lstStyle/>
          <a:p>
            <a:pPr algn="l">
              <a:spcBef>
                <a:spcPts val="0"/>
              </a:spcBef>
              <a:spcAft>
                <a:spcPts val="0"/>
              </a:spcAft>
            </a:pPr>
            <a:r>
              <a:rPr sz="1100" b="1" i="0">
                <a:solidFill>
                  <a:srgbClr val="52514E"/>
                </a:solidFill>
                <a:latin typeface="Calibri"/>
              </a:rPr>
              <a:t>STATE</a:t>
            </a:r>
          </a:p>
        </p:txBody>
      </p:sp>
      <p:sp>
        <p:nvSpPr>
          <p:cNvPr id="6" name="TextBox 5"/>
          <p:cNvSpPr txBox="1"/>
          <p:nvPr/>
        </p:nvSpPr>
        <p:spPr>
          <a:xfrm>
            <a:off x="7818120" y="1517904"/>
            <a:ext cx="3840480" cy="274320"/>
          </a:xfrm>
          <a:prstGeom prst="rect">
            <a:avLst/>
          </a:prstGeom>
          <a:noFill/>
        </p:spPr>
        <p:txBody>
          <a:bodyPr wrap="square" lIns="0" rIns="0" tIns="0" bIns="0" anchor="t"/>
          <a:lstStyle/>
          <a:p>
            <a:pPr algn="l">
              <a:spcBef>
                <a:spcPts val="0"/>
              </a:spcBef>
              <a:spcAft>
                <a:spcPts val="0"/>
              </a:spcAft>
            </a:pPr>
            <a:r>
              <a:rPr sz="1100" b="1" i="0">
                <a:solidFill>
                  <a:srgbClr val="52514E"/>
                </a:solidFill>
                <a:latin typeface="Calibri"/>
              </a:rPr>
              <a:t>HOW EACH STATE IS DETERMINED</a:t>
            </a:r>
          </a:p>
        </p:txBody>
      </p:sp>
      <p:sp>
        <p:nvSpPr>
          <p:cNvPr id="7" name="Rounded Rectangle 6"/>
          <p:cNvSpPr/>
          <p:nvPr/>
        </p:nvSpPr>
        <p:spPr>
          <a:xfrm>
            <a:off x="4937760" y="1874519"/>
            <a:ext cx="2651760" cy="603504"/>
          </a:xfrm>
          <a:prstGeom prst="roundRect">
            <a:avLst>
              <a:gd name="adj" fmla="val 12000"/>
            </a:avLst>
          </a:prstGeom>
          <a:solidFill>
            <a:srgbClr val="E8F0FA"/>
          </a:solidFill>
          <a:ln w="1587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spcBef>
                <a:spcPts val="0"/>
              </a:spcBef>
              <a:spcAft>
                <a:spcPts val="0"/>
              </a:spcAft>
            </a:pPr>
            <a:r>
              <a:rPr sz="1500" b="1" i="0">
                <a:solidFill>
                  <a:srgbClr val="0B0B0B"/>
                </a:solidFill>
                <a:latin typeface="Calibri"/>
              </a:rPr>
              <a:t>x, y</a:t>
            </a:r>
          </a:p>
          <a:p>
            <a:pPr algn="l">
              <a:spcBef>
                <a:spcPts val="0"/>
              </a:spcBef>
              <a:spcAft>
                <a:spcPts val="0"/>
              </a:spcAft>
            </a:pPr>
            <a:r>
              <a:rPr sz="1100" b="0" i="0">
                <a:solidFill>
                  <a:srgbClr val="52514E"/>
                </a:solidFill>
                <a:latin typeface="Calibri"/>
              </a:rPr>
              <a:t>position of the rear axle (m)</a:t>
            </a:r>
          </a:p>
        </p:txBody>
      </p:sp>
      <p:sp>
        <p:nvSpPr>
          <p:cNvPr id="8" name="TextBox 7"/>
          <p:cNvSpPr txBox="1"/>
          <p:nvPr/>
        </p:nvSpPr>
        <p:spPr>
          <a:xfrm>
            <a:off x="7818120" y="1874519"/>
            <a:ext cx="3840480" cy="603504"/>
          </a:xfrm>
          <a:prstGeom prst="rect">
            <a:avLst/>
          </a:prstGeom>
          <a:noFill/>
        </p:spPr>
        <p:txBody>
          <a:bodyPr wrap="square" lIns="0" rIns="0" tIns="0" bIns="0" anchor="ctr"/>
          <a:lstStyle/>
          <a:p>
            <a:pPr algn="l">
              <a:spcBef>
                <a:spcPts val="0"/>
              </a:spcBef>
              <a:spcAft>
                <a:spcPts val="0"/>
              </a:spcAft>
            </a:pPr>
            <a:r>
              <a:rPr sz="1200" b="0" i="0">
                <a:solidFill>
                  <a:srgbClr val="0B0B0B"/>
                </a:solidFill>
                <a:latin typeface="Calibri"/>
              </a:rPr>
              <a:t>integrated speed and heading</a:t>
            </a:r>
          </a:p>
          <a:p>
            <a:pPr algn="l">
              <a:spcBef>
                <a:spcPts val="0"/>
              </a:spcBef>
              <a:spcAft>
                <a:spcPts val="0"/>
              </a:spcAft>
            </a:pPr>
            <a:r>
              <a:rPr sz="1100" b="0" i="0">
                <a:solidFill>
                  <a:srgbClr val="52514E"/>
                </a:solidFill>
                <a:latin typeface="Calibri"/>
              </a:rPr>
              <a:t>dx/dt = v·cos ψ,   dy/dt = v·sin ψ</a:t>
            </a:r>
          </a:p>
        </p:txBody>
      </p:sp>
      <p:sp>
        <p:nvSpPr>
          <p:cNvPr id="9" name="Rounded Rectangle 8"/>
          <p:cNvSpPr/>
          <p:nvPr/>
        </p:nvSpPr>
        <p:spPr>
          <a:xfrm>
            <a:off x="4937760" y="2624328"/>
            <a:ext cx="2651760" cy="603504"/>
          </a:xfrm>
          <a:prstGeom prst="roundRect">
            <a:avLst>
              <a:gd name="adj" fmla="val 12000"/>
            </a:avLst>
          </a:prstGeom>
          <a:solidFill>
            <a:srgbClr val="E8F0FA"/>
          </a:solidFill>
          <a:ln w="1587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spcBef>
                <a:spcPts val="0"/>
              </a:spcBef>
              <a:spcAft>
                <a:spcPts val="0"/>
              </a:spcAft>
            </a:pPr>
            <a:r>
              <a:rPr sz="1500" b="1" i="0">
                <a:solidFill>
                  <a:srgbClr val="0B0B0B"/>
                </a:solidFill>
                <a:latin typeface="Calibri"/>
              </a:rPr>
              <a:t>ψ  yaw</a:t>
            </a:r>
          </a:p>
          <a:p>
            <a:pPr algn="l">
              <a:spcBef>
                <a:spcPts val="0"/>
              </a:spcBef>
              <a:spcAft>
                <a:spcPts val="0"/>
              </a:spcAft>
            </a:pPr>
            <a:r>
              <a:rPr sz="1100" b="0" i="0">
                <a:solidFill>
                  <a:srgbClr val="52514E"/>
                </a:solidFill>
                <a:latin typeface="Calibri"/>
              </a:rPr>
              <a:t>heading (rad)</a:t>
            </a:r>
          </a:p>
        </p:txBody>
      </p:sp>
      <p:sp>
        <p:nvSpPr>
          <p:cNvPr id="10" name="TextBox 9"/>
          <p:cNvSpPr txBox="1"/>
          <p:nvPr/>
        </p:nvSpPr>
        <p:spPr>
          <a:xfrm>
            <a:off x="7818120" y="2624328"/>
            <a:ext cx="3840480" cy="603504"/>
          </a:xfrm>
          <a:prstGeom prst="rect">
            <a:avLst/>
          </a:prstGeom>
          <a:noFill/>
        </p:spPr>
        <p:txBody>
          <a:bodyPr wrap="square" lIns="0" rIns="0" tIns="0" bIns="0" anchor="ctr"/>
          <a:lstStyle/>
          <a:p>
            <a:pPr algn="l">
              <a:spcBef>
                <a:spcPts val="0"/>
              </a:spcBef>
              <a:spcAft>
                <a:spcPts val="0"/>
              </a:spcAft>
            </a:pPr>
            <a:r>
              <a:rPr sz="1200" b="0" i="0">
                <a:solidFill>
                  <a:srgbClr val="0B0B0B"/>
                </a:solidFill>
                <a:latin typeface="Calibri"/>
              </a:rPr>
              <a:t>integrated gyro rate, minus the bias</a:t>
            </a:r>
          </a:p>
          <a:p>
            <a:pPr algn="l">
              <a:spcBef>
                <a:spcPts val="0"/>
              </a:spcBef>
              <a:spcAft>
                <a:spcPts val="0"/>
              </a:spcAft>
            </a:pPr>
            <a:r>
              <a:rPr sz="1100" b="0" i="0">
                <a:solidFill>
                  <a:srgbClr val="52514E"/>
                </a:solidFill>
                <a:latin typeface="Calibri"/>
              </a:rPr>
              <a:t>dψ/dt = ω − b</a:t>
            </a:r>
          </a:p>
        </p:txBody>
      </p:sp>
      <p:sp>
        <p:nvSpPr>
          <p:cNvPr id="11" name="Rounded Rectangle 10"/>
          <p:cNvSpPr/>
          <p:nvPr/>
        </p:nvSpPr>
        <p:spPr>
          <a:xfrm>
            <a:off x="4937760" y="3374136"/>
            <a:ext cx="2651760" cy="603504"/>
          </a:xfrm>
          <a:prstGeom prst="roundRect">
            <a:avLst>
              <a:gd name="adj" fmla="val 12000"/>
            </a:avLst>
          </a:prstGeom>
          <a:solidFill>
            <a:srgbClr val="E8F0FA"/>
          </a:solidFill>
          <a:ln w="1587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spcBef>
                <a:spcPts val="0"/>
              </a:spcBef>
              <a:spcAft>
                <a:spcPts val="0"/>
              </a:spcAft>
            </a:pPr>
            <a:r>
              <a:rPr sz="1500" b="1" i="0">
                <a:solidFill>
                  <a:srgbClr val="0B0B0B"/>
                </a:solidFill>
                <a:latin typeface="Calibri"/>
              </a:rPr>
              <a:t>v</a:t>
            </a:r>
          </a:p>
          <a:p>
            <a:pPr algn="l">
              <a:spcBef>
                <a:spcPts val="0"/>
              </a:spcBef>
              <a:spcAft>
                <a:spcPts val="0"/>
              </a:spcAft>
            </a:pPr>
            <a:r>
              <a:rPr sz="1100" b="0" i="0">
                <a:solidFill>
                  <a:srgbClr val="52514E"/>
                </a:solidFill>
                <a:latin typeface="Calibri"/>
              </a:rPr>
              <a:t>speed along the car (m/s)</a:t>
            </a:r>
          </a:p>
        </p:txBody>
      </p:sp>
      <p:sp>
        <p:nvSpPr>
          <p:cNvPr id="12" name="TextBox 11"/>
          <p:cNvSpPr txBox="1"/>
          <p:nvPr/>
        </p:nvSpPr>
        <p:spPr>
          <a:xfrm>
            <a:off x="7818120" y="3374136"/>
            <a:ext cx="3840480" cy="603504"/>
          </a:xfrm>
          <a:prstGeom prst="rect">
            <a:avLst/>
          </a:prstGeom>
          <a:noFill/>
        </p:spPr>
        <p:txBody>
          <a:bodyPr wrap="square" lIns="0" rIns="0" tIns="0" bIns="0" anchor="ctr"/>
          <a:lstStyle/>
          <a:p>
            <a:pPr algn="l">
              <a:spcBef>
                <a:spcPts val="0"/>
              </a:spcBef>
              <a:spcAft>
                <a:spcPts val="0"/>
              </a:spcAft>
            </a:pPr>
            <a:r>
              <a:rPr sz="1200" b="0" i="0">
                <a:solidFill>
                  <a:srgbClr val="0B0B0B"/>
                </a:solidFill>
                <a:latin typeface="Calibri"/>
              </a:rPr>
              <a:t>integrated accelerometer, corrected by wheel speed</a:t>
            </a:r>
          </a:p>
          <a:p>
            <a:pPr algn="l">
              <a:spcBef>
                <a:spcPts val="0"/>
              </a:spcBef>
              <a:spcAft>
                <a:spcPts val="0"/>
              </a:spcAft>
            </a:pPr>
            <a:r>
              <a:rPr sz="1100" b="0" i="0">
                <a:solidFill>
                  <a:srgbClr val="52514E"/>
                </a:solidFill>
                <a:latin typeface="Calibri"/>
              </a:rPr>
              <a:t>dv/dt = a</a:t>
            </a:r>
          </a:p>
        </p:txBody>
      </p:sp>
      <p:sp>
        <p:nvSpPr>
          <p:cNvPr id="13" name="Rounded Rectangle 12"/>
          <p:cNvSpPr/>
          <p:nvPr/>
        </p:nvSpPr>
        <p:spPr>
          <a:xfrm>
            <a:off x="4937760" y="4123944"/>
            <a:ext cx="2651760" cy="603504"/>
          </a:xfrm>
          <a:prstGeom prst="roundRect">
            <a:avLst>
              <a:gd name="adj" fmla="val 12000"/>
            </a:avLst>
          </a:prstGeom>
          <a:solidFill>
            <a:srgbClr val="F1F0ED"/>
          </a:solidFill>
          <a:ln w="15875">
            <a:solidFill>
              <a:srgbClr val="52514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spcBef>
                <a:spcPts val="0"/>
              </a:spcBef>
              <a:spcAft>
                <a:spcPts val="0"/>
              </a:spcAft>
            </a:pPr>
            <a:r>
              <a:rPr sz="1500" b="1" i="0">
                <a:solidFill>
                  <a:srgbClr val="0B0B0B"/>
                </a:solidFill>
                <a:latin typeface="Calibri"/>
              </a:rPr>
              <a:t>k  odometry scale</a:t>
            </a:r>
          </a:p>
          <a:p>
            <a:pPr algn="l">
              <a:spcBef>
                <a:spcPts val="0"/>
              </a:spcBef>
              <a:spcAft>
                <a:spcPts val="0"/>
              </a:spcAft>
            </a:pPr>
            <a:r>
              <a:rPr sz="1100" b="0" i="0">
                <a:solidFill>
                  <a:srgbClr val="52514E"/>
                </a:solidFill>
                <a:latin typeface="Calibri"/>
              </a:rPr>
              <a:t>wheel size error (1 = nominal)</a:t>
            </a:r>
          </a:p>
        </p:txBody>
      </p:sp>
      <p:sp>
        <p:nvSpPr>
          <p:cNvPr id="14" name="TextBox 13"/>
          <p:cNvSpPr txBox="1"/>
          <p:nvPr/>
        </p:nvSpPr>
        <p:spPr>
          <a:xfrm>
            <a:off x="7818120" y="4123944"/>
            <a:ext cx="3840480" cy="603504"/>
          </a:xfrm>
          <a:prstGeom prst="rect">
            <a:avLst/>
          </a:prstGeom>
          <a:noFill/>
        </p:spPr>
        <p:txBody>
          <a:bodyPr wrap="square" lIns="0" rIns="0" tIns="0" bIns="0" anchor="ctr"/>
          <a:lstStyle/>
          <a:p>
            <a:pPr algn="l">
              <a:spcBef>
                <a:spcPts val="0"/>
              </a:spcBef>
              <a:spcAft>
                <a:spcPts val="0"/>
              </a:spcAft>
            </a:pPr>
            <a:r>
              <a:rPr sz="1200" b="0" i="0">
                <a:solidFill>
                  <a:srgbClr val="0B0B0B"/>
                </a:solidFill>
                <a:latin typeface="Calibri"/>
              </a:rPr>
              <a:t>wheel speed vs integrated accelerometer</a:t>
            </a:r>
          </a:p>
          <a:p>
            <a:pPr algn="l">
              <a:spcBef>
                <a:spcPts val="0"/>
              </a:spcBef>
              <a:spcAft>
                <a:spcPts val="0"/>
              </a:spcAft>
            </a:pPr>
            <a:r>
              <a:rPr sz="1100" b="0" i="0">
                <a:solidFill>
                  <a:srgbClr val="52514E"/>
                </a:solidFill>
                <a:latin typeface="Calibri"/>
              </a:rPr>
              <a:t>z = k·v</a:t>
            </a:r>
          </a:p>
        </p:txBody>
      </p:sp>
      <p:sp>
        <p:nvSpPr>
          <p:cNvPr id="15" name="Rounded Rectangle 14"/>
          <p:cNvSpPr/>
          <p:nvPr/>
        </p:nvSpPr>
        <p:spPr>
          <a:xfrm>
            <a:off x="4937760" y="4873752"/>
            <a:ext cx="2651760" cy="603504"/>
          </a:xfrm>
          <a:prstGeom prst="roundRect">
            <a:avLst>
              <a:gd name="adj" fmla="val 12000"/>
            </a:avLst>
          </a:prstGeom>
          <a:solidFill>
            <a:srgbClr val="F1F0ED"/>
          </a:solidFill>
          <a:ln w="15875">
            <a:solidFill>
              <a:srgbClr val="52514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spcBef>
                <a:spcPts val="0"/>
              </a:spcBef>
              <a:spcAft>
                <a:spcPts val="0"/>
              </a:spcAft>
            </a:pPr>
            <a:r>
              <a:rPr sz="1500" b="1" i="0">
                <a:solidFill>
                  <a:srgbClr val="0B0B0B"/>
                </a:solidFill>
                <a:latin typeface="Calibri"/>
              </a:rPr>
              <a:t>b  gyro bias</a:t>
            </a:r>
          </a:p>
          <a:p>
            <a:pPr algn="l">
              <a:spcBef>
                <a:spcPts val="0"/>
              </a:spcBef>
              <a:spcAft>
                <a:spcPts val="0"/>
              </a:spcAft>
            </a:pPr>
            <a:r>
              <a:rPr sz="1100" b="0" i="0">
                <a:solidFill>
                  <a:srgbClr val="52514E"/>
                </a:solidFill>
                <a:latin typeface="Calibri"/>
              </a:rPr>
              <a:t>constant gyro offset (rad/s)</a:t>
            </a:r>
          </a:p>
        </p:txBody>
      </p:sp>
      <p:sp>
        <p:nvSpPr>
          <p:cNvPr id="16" name="TextBox 15"/>
          <p:cNvSpPr txBox="1"/>
          <p:nvPr/>
        </p:nvSpPr>
        <p:spPr>
          <a:xfrm>
            <a:off x="7818120" y="4873752"/>
            <a:ext cx="3840480" cy="603504"/>
          </a:xfrm>
          <a:prstGeom prst="rect">
            <a:avLst/>
          </a:prstGeom>
          <a:noFill/>
        </p:spPr>
        <p:txBody>
          <a:bodyPr wrap="square" lIns="0" rIns="0" tIns="0" bIns="0" anchor="ctr"/>
          <a:lstStyle/>
          <a:p>
            <a:pPr algn="l">
              <a:spcBef>
                <a:spcPts val="0"/>
              </a:spcBef>
              <a:spcAft>
                <a:spcPts val="0"/>
              </a:spcAft>
            </a:pPr>
            <a:r>
              <a:rPr sz="1200" b="0" i="0">
                <a:solidFill>
                  <a:srgbClr val="0B0B0B"/>
                </a:solidFill>
                <a:latin typeface="Calibri"/>
              </a:rPr>
              <a:t>gyro vs steering angle</a:t>
            </a:r>
          </a:p>
          <a:p>
            <a:pPr algn="l">
              <a:spcBef>
                <a:spcPts val="0"/>
              </a:spcBef>
              <a:spcAft>
                <a:spcPts val="0"/>
              </a:spcAft>
            </a:pPr>
            <a:r>
              <a:rPr sz="1100" b="0" i="0">
                <a:solidFill>
                  <a:srgbClr val="52514E"/>
                </a:solidFill>
                <a:latin typeface="Calibri"/>
              </a:rPr>
              <a:t>ω = b + v·tan δ / L</a:t>
            </a:r>
          </a:p>
        </p:txBody>
      </p:sp>
      <p:sp>
        <p:nvSpPr>
          <p:cNvPr id="17" name="TextBox 16"/>
          <p:cNvSpPr txBox="1"/>
          <p:nvPr/>
        </p:nvSpPr>
        <p:spPr>
          <a:xfrm>
            <a:off x="548640" y="1874519"/>
            <a:ext cx="2743200" cy="603504"/>
          </a:xfrm>
          <a:prstGeom prst="rect">
            <a:avLst/>
          </a:prstGeom>
          <a:noFill/>
        </p:spPr>
        <p:txBody>
          <a:bodyPr wrap="square" lIns="0" rIns="0" tIns="0" bIns="0" anchor="ctr"/>
          <a:lstStyle/>
          <a:p>
            <a:pPr algn="l">
              <a:spcBef>
                <a:spcPts val="0"/>
              </a:spcBef>
              <a:spcAft>
                <a:spcPts val="0"/>
              </a:spcAft>
            </a:pPr>
            <a:r>
              <a:rPr sz="1100" b="0" i="0">
                <a:solidFill>
                  <a:srgbClr val="52514E"/>
                </a:solidFill>
                <a:latin typeface="Calibri"/>
              </a:rPr>
              <a:t>No sensor measures x, y yet: they follow from speed and heading (map updates come later).</a:t>
            </a:r>
          </a:p>
        </p:txBody>
      </p:sp>
      <p:sp>
        <p:nvSpPr>
          <p:cNvPr id="18" name="Rounded Rectangle 17"/>
          <p:cNvSpPr/>
          <p:nvPr/>
        </p:nvSpPr>
        <p:spPr>
          <a:xfrm>
            <a:off x="548640" y="2624328"/>
            <a:ext cx="2743200" cy="603504"/>
          </a:xfrm>
          <a:prstGeom prst="roundRect">
            <a:avLst>
              <a:gd name="adj" fmla="val 12000"/>
            </a:avLst>
          </a:prstGeom>
          <a:solidFill>
            <a:srgbClr val="FFFFFF"/>
          </a:solidFill>
          <a:ln w="12700">
            <a:solidFill>
              <a:srgbClr val="52514E"/>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spcBef>
                <a:spcPts val="0"/>
              </a:spcBef>
              <a:spcAft>
                <a:spcPts val="0"/>
              </a:spcAft>
            </a:pPr>
            <a:r>
              <a:rPr sz="1400" b="1" i="0">
                <a:solidFill>
                  <a:srgbClr val="0B0B0B"/>
                </a:solidFill>
                <a:latin typeface="Calibri"/>
              </a:rPr>
              <a:t>Gyro</a:t>
            </a:r>
          </a:p>
          <a:p>
            <a:pPr algn="l">
              <a:spcBef>
                <a:spcPts val="0"/>
              </a:spcBef>
              <a:spcAft>
                <a:spcPts val="0"/>
              </a:spcAft>
            </a:pPr>
            <a:r>
              <a:rPr sz="1100" b="0" i="0">
                <a:solidFill>
                  <a:srgbClr val="52514E"/>
                </a:solidFill>
                <a:latin typeface="Calibri"/>
              </a:rPr>
              <a:t>yaw rate ω · 100 Hz</a:t>
            </a:r>
          </a:p>
        </p:txBody>
      </p:sp>
      <p:sp>
        <p:nvSpPr>
          <p:cNvPr id="19" name="Rounded Rectangle 18"/>
          <p:cNvSpPr/>
          <p:nvPr/>
        </p:nvSpPr>
        <p:spPr>
          <a:xfrm>
            <a:off x="548640" y="3374136"/>
            <a:ext cx="2743200" cy="603504"/>
          </a:xfrm>
          <a:prstGeom prst="roundRect">
            <a:avLst>
              <a:gd name="adj" fmla="val 12000"/>
            </a:avLst>
          </a:prstGeom>
          <a:solidFill>
            <a:srgbClr val="FFFFFF"/>
          </a:solidFill>
          <a:ln w="12700">
            <a:solidFill>
              <a:srgbClr val="52514E"/>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spcBef>
                <a:spcPts val="0"/>
              </a:spcBef>
              <a:spcAft>
                <a:spcPts val="0"/>
              </a:spcAft>
            </a:pPr>
            <a:r>
              <a:rPr sz="1400" b="1" i="0">
                <a:solidFill>
                  <a:srgbClr val="0B0B0B"/>
                </a:solidFill>
                <a:latin typeface="Calibri"/>
              </a:rPr>
              <a:t>Accelerometer</a:t>
            </a:r>
          </a:p>
          <a:p>
            <a:pPr algn="l">
              <a:spcBef>
                <a:spcPts val="0"/>
              </a:spcBef>
              <a:spcAft>
                <a:spcPts val="0"/>
              </a:spcAft>
            </a:pPr>
            <a:r>
              <a:rPr sz="1100" b="0" i="0">
                <a:solidFill>
                  <a:srgbClr val="52514E"/>
                </a:solidFill>
                <a:latin typeface="Calibri"/>
              </a:rPr>
              <a:t>forward acceleration · 100 Hz</a:t>
            </a:r>
          </a:p>
        </p:txBody>
      </p:sp>
      <p:sp>
        <p:nvSpPr>
          <p:cNvPr id="20" name="Rounded Rectangle 19"/>
          <p:cNvSpPr/>
          <p:nvPr/>
        </p:nvSpPr>
        <p:spPr>
          <a:xfrm>
            <a:off x="548640" y="4123944"/>
            <a:ext cx="2743200" cy="603504"/>
          </a:xfrm>
          <a:prstGeom prst="roundRect">
            <a:avLst>
              <a:gd name="adj" fmla="val 12000"/>
            </a:avLst>
          </a:prstGeom>
          <a:solidFill>
            <a:srgbClr val="FFFFFF"/>
          </a:solidFill>
          <a:ln w="12700">
            <a:solidFill>
              <a:srgbClr val="52514E"/>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spcBef>
                <a:spcPts val="0"/>
              </a:spcBef>
              <a:spcAft>
                <a:spcPts val="0"/>
              </a:spcAft>
            </a:pPr>
            <a:r>
              <a:rPr sz="1400" b="1" i="0">
                <a:solidFill>
                  <a:srgbClr val="0B0B0B"/>
                </a:solidFill>
                <a:latin typeface="Calibri"/>
              </a:rPr>
              <a:t>Wheel encoders</a:t>
            </a:r>
          </a:p>
          <a:p>
            <a:pPr algn="l">
              <a:spcBef>
                <a:spcPts val="0"/>
              </a:spcBef>
              <a:spcAft>
                <a:spcPts val="0"/>
              </a:spcAft>
            </a:pPr>
            <a:r>
              <a:rPr sz="1100" b="0" i="0">
                <a:solidFill>
                  <a:srgbClr val="52514E"/>
                </a:solidFill>
                <a:latin typeface="Calibri"/>
              </a:rPr>
              <a:t>ticks → speed over 0.2 s · 50 Hz</a:t>
            </a:r>
          </a:p>
        </p:txBody>
      </p:sp>
      <p:sp>
        <p:nvSpPr>
          <p:cNvPr id="21" name="Rounded Rectangle 20"/>
          <p:cNvSpPr/>
          <p:nvPr/>
        </p:nvSpPr>
        <p:spPr>
          <a:xfrm>
            <a:off x="548640" y="4873752"/>
            <a:ext cx="2743200" cy="603504"/>
          </a:xfrm>
          <a:prstGeom prst="roundRect">
            <a:avLst>
              <a:gd name="adj" fmla="val 12000"/>
            </a:avLst>
          </a:prstGeom>
          <a:solidFill>
            <a:srgbClr val="FFFFFF"/>
          </a:solidFill>
          <a:ln w="12700">
            <a:solidFill>
              <a:srgbClr val="52514E"/>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spcBef>
                <a:spcPts val="0"/>
              </a:spcBef>
              <a:spcAft>
                <a:spcPts val="0"/>
              </a:spcAft>
            </a:pPr>
            <a:r>
              <a:rPr sz="1400" b="1" i="0">
                <a:solidFill>
                  <a:srgbClr val="0B0B0B"/>
                </a:solidFill>
                <a:latin typeface="Calibri"/>
              </a:rPr>
              <a:t>Steering angle</a:t>
            </a:r>
          </a:p>
          <a:p>
            <a:pPr algn="l">
              <a:spcBef>
                <a:spcPts val="0"/>
              </a:spcBef>
              <a:spcAft>
                <a:spcPts val="0"/>
              </a:spcAft>
            </a:pPr>
            <a:r>
              <a:rPr sz="1100" b="0" i="0">
                <a:solidFill>
                  <a:srgbClr val="52514E"/>
                </a:solidFill>
                <a:latin typeface="Calibri"/>
              </a:rPr>
              <a:t>front wheel angle δ · 50 Hz</a:t>
            </a:r>
          </a:p>
        </p:txBody>
      </p:sp>
      <p:cxnSp>
        <p:nvCxnSpPr>
          <p:cNvPr id="22" name="Connector 21"/>
          <p:cNvCxnSpPr/>
          <p:nvPr/>
        </p:nvCxnSpPr>
        <p:spPr>
          <a:xfrm>
            <a:off x="3310128" y="2926080"/>
            <a:ext cx="1609344" cy="0"/>
          </a:xfrm>
          <a:prstGeom prst="line">
            <a:avLst/>
          </a:prstGeom>
          <a:ln w="28575">
            <a:solidFill>
              <a:srgbClr val="2A78D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3566160" y="2615184"/>
            <a:ext cx="1097280" cy="256032"/>
          </a:xfrm>
          <a:prstGeom prst="rect">
            <a:avLst/>
          </a:prstGeom>
          <a:noFill/>
        </p:spPr>
        <p:txBody>
          <a:bodyPr wrap="square" lIns="0" rIns="0" tIns="0" bIns="0" anchor="t"/>
          <a:lstStyle/>
          <a:p>
            <a:pPr algn="ctr">
              <a:spcBef>
                <a:spcPts val="0"/>
              </a:spcBef>
              <a:spcAft>
                <a:spcPts val="0"/>
              </a:spcAft>
            </a:pPr>
            <a:r>
              <a:rPr sz="1100" b="1" i="0">
                <a:solidFill>
                  <a:srgbClr val="0B0B0B"/>
                </a:solidFill>
                <a:latin typeface="Calibri"/>
              </a:rPr>
              <a:t>predict</a:t>
            </a:r>
          </a:p>
        </p:txBody>
      </p:sp>
      <p:cxnSp>
        <p:nvCxnSpPr>
          <p:cNvPr id="24" name="Connector 23"/>
          <p:cNvCxnSpPr/>
          <p:nvPr/>
        </p:nvCxnSpPr>
        <p:spPr>
          <a:xfrm>
            <a:off x="3310128" y="3675887"/>
            <a:ext cx="1609344" cy="0"/>
          </a:xfrm>
          <a:prstGeom prst="line">
            <a:avLst/>
          </a:prstGeom>
          <a:ln w="28575">
            <a:solidFill>
              <a:srgbClr val="2A78D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3566160" y="3364991"/>
            <a:ext cx="1097280" cy="256032"/>
          </a:xfrm>
          <a:prstGeom prst="rect">
            <a:avLst/>
          </a:prstGeom>
          <a:noFill/>
        </p:spPr>
        <p:txBody>
          <a:bodyPr wrap="square" lIns="0" rIns="0" tIns="0" bIns="0" anchor="t"/>
          <a:lstStyle/>
          <a:p>
            <a:pPr algn="ctr">
              <a:spcBef>
                <a:spcPts val="0"/>
              </a:spcBef>
              <a:spcAft>
                <a:spcPts val="0"/>
              </a:spcAft>
            </a:pPr>
            <a:r>
              <a:rPr sz="1100" b="1" i="0">
                <a:solidFill>
                  <a:srgbClr val="0B0B0B"/>
                </a:solidFill>
                <a:latin typeface="Calibri"/>
              </a:rPr>
              <a:t>predict</a:t>
            </a:r>
          </a:p>
        </p:txBody>
      </p:sp>
      <p:cxnSp>
        <p:nvCxnSpPr>
          <p:cNvPr id="26" name="Connector 25"/>
          <p:cNvCxnSpPr/>
          <p:nvPr/>
        </p:nvCxnSpPr>
        <p:spPr>
          <a:xfrm>
            <a:off x="3310128" y="4425696"/>
            <a:ext cx="1609344" cy="0"/>
          </a:xfrm>
          <a:prstGeom prst="line">
            <a:avLst/>
          </a:prstGeom>
          <a:ln w="28575">
            <a:solidFill>
              <a:srgbClr val="EB683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3310128" y="3858768"/>
            <a:ext cx="1609344" cy="438912"/>
          </a:xfrm>
          <a:prstGeom prst="line">
            <a:avLst/>
          </a:prstGeom>
          <a:ln w="28575">
            <a:solidFill>
              <a:srgbClr val="EB683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3566160" y="4480559"/>
            <a:ext cx="1097280" cy="256032"/>
          </a:xfrm>
          <a:prstGeom prst="rect">
            <a:avLst/>
          </a:prstGeom>
          <a:noFill/>
        </p:spPr>
        <p:txBody>
          <a:bodyPr wrap="square" lIns="0" rIns="0" tIns="0" bIns="0" anchor="t"/>
          <a:lstStyle/>
          <a:p>
            <a:pPr algn="ctr">
              <a:spcBef>
                <a:spcPts val="0"/>
              </a:spcBef>
              <a:spcAft>
                <a:spcPts val="0"/>
              </a:spcAft>
            </a:pPr>
            <a:r>
              <a:rPr sz="1100" b="1" i="0">
                <a:solidFill>
                  <a:srgbClr val="0B0B0B"/>
                </a:solidFill>
                <a:latin typeface="Calibri"/>
              </a:rPr>
              <a:t>update</a:t>
            </a:r>
          </a:p>
        </p:txBody>
      </p:sp>
      <p:cxnSp>
        <p:nvCxnSpPr>
          <p:cNvPr id="29" name="Connector 28"/>
          <p:cNvCxnSpPr/>
          <p:nvPr/>
        </p:nvCxnSpPr>
        <p:spPr>
          <a:xfrm>
            <a:off x="3310128" y="5175504"/>
            <a:ext cx="1609344" cy="0"/>
          </a:xfrm>
          <a:prstGeom prst="line">
            <a:avLst/>
          </a:prstGeom>
          <a:ln w="28575">
            <a:solidFill>
              <a:srgbClr val="EB6834"/>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3566160" y="4864608"/>
            <a:ext cx="1097280" cy="256032"/>
          </a:xfrm>
          <a:prstGeom prst="rect">
            <a:avLst/>
          </a:prstGeom>
          <a:noFill/>
        </p:spPr>
        <p:txBody>
          <a:bodyPr wrap="square" lIns="0" rIns="0" tIns="0" bIns="0" anchor="t"/>
          <a:lstStyle/>
          <a:p>
            <a:pPr algn="ctr">
              <a:spcBef>
                <a:spcPts val="0"/>
              </a:spcBef>
              <a:spcAft>
                <a:spcPts val="0"/>
              </a:spcAft>
            </a:pPr>
            <a:r>
              <a:rPr sz="1100" b="1" i="0">
                <a:solidFill>
                  <a:srgbClr val="0B0B0B"/>
                </a:solidFill>
                <a:latin typeface="Calibri"/>
              </a:rPr>
              <a:t>update</a:t>
            </a:r>
          </a:p>
        </p:txBody>
      </p:sp>
      <p:cxnSp>
        <p:nvCxnSpPr>
          <p:cNvPr id="31" name="Connector 30"/>
          <p:cNvCxnSpPr/>
          <p:nvPr/>
        </p:nvCxnSpPr>
        <p:spPr>
          <a:xfrm>
            <a:off x="548640" y="5824728"/>
            <a:ext cx="457200" cy="0"/>
          </a:xfrm>
          <a:prstGeom prst="line">
            <a:avLst/>
          </a:prstGeom>
          <a:ln w="28575">
            <a:solidFill>
              <a:srgbClr val="2A78D6"/>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1097280" y="5669280"/>
            <a:ext cx="5029200" cy="310896"/>
          </a:xfrm>
          <a:prstGeom prst="rect">
            <a:avLst/>
          </a:prstGeom>
          <a:noFill/>
        </p:spPr>
        <p:txBody>
          <a:bodyPr wrap="square" lIns="0" rIns="0" tIns="0" bIns="0" anchor="ctr"/>
          <a:lstStyle/>
          <a:p>
            <a:pPr algn="l">
              <a:spcBef>
                <a:spcPts val="0"/>
              </a:spcBef>
              <a:spcAft>
                <a:spcPts val="0"/>
              </a:spcAft>
            </a:pPr>
            <a:r>
              <a:rPr sz="1100" b="0" i="0">
                <a:solidFill>
                  <a:srgbClr val="52514E"/>
                </a:solidFill>
                <a:latin typeface="Calibri"/>
              </a:rPr>
              <a:t>predict: gyro and accelerometer drive the motion model</a:t>
            </a:r>
          </a:p>
        </p:txBody>
      </p:sp>
      <p:cxnSp>
        <p:nvCxnSpPr>
          <p:cNvPr id="33" name="Connector 32"/>
          <p:cNvCxnSpPr/>
          <p:nvPr/>
        </p:nvCxnSpPr>
        <p:spPr>
          <a:xfrm>
            <a:off x="6309360" y="5824728"/>
            <a:ext cx="457200" cy="0"/>
          </a:xfrm>
          <a:prstGeom prst="line">
            <a:avLst/>
          </a:prstGeom>
          <a:ln w="28575">
            <a:solidFill>
              <a:srgbClr val="EB6834"/>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6858000" y="5669280"/>
            <a:ext cx="4846320" cy="310896"/>
          </a:xfrm>
          <a:prstGeom prst="rect">
            <a:avLst/>
          </a:prstGeom>
          <a:noFill/>
        </p:spPr>
        <p:txBody>
          <a:bodyPr wrap="square" lIns="0" rIns="0" tIns="0" bIns="0" anchor="ctr"/>
          <a:lstStyle/>
          <a:p>
            <a:pPr algn="l">
              <a:spcBef>
                <a:spcPts val="0"/>
              </a:spcBef>
              <a:spcAft>
                <a:spcPts val="0"/>
              </a:spcAft>
            </a:pPr>
            <a:r>
              <a:rPr sz="1100" b="0" i="0">
                <a:solidFill>
                  <a:srgbClr val="52514E"/>
                </a:solidFill>
                <a:latin typeface="Calibri"/>
              </a:rPr>
              <a:t>update: wheel speed and steering angle correct the state</a:t>
            </a:r>
          </a:p>
        </p:txBody>
      </p:sp>
      <p:sp>
        <p:nvSpPr>
          <p:cNvPr id="35" name="Rectangle 34"/>
          <p:cNvSpPr/>
          <p:nvPr/>
        </p:nvSpPr>
        <p:spPr>
          <a:xfrm>
            <a:off x="548640" y="6108192"/>
            <a:ext cx="237744" cy="201168"/>
          </a:xfrm>
          <a:prstGeom prst="rect">
            <a:avLst/>
          </a:prstGeom>
          <a:solidFill>
            <a:srgbClr val="E8F0FA"/>
          </a:solidFill>
          <a:ln w="1587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14400" y="6053328"/>
            <a:ext cx="5212080" cy="310896"/>
          </a:xfrm>
          <a:prstGeom prst="rect">
            <a:avLst/>
          </a:prstGeom>
          <a:noFill/>
        </p:spPr>
        <p:txBody>
          <a:bodyPr wrap="square" lIns="0" rIns="0" tIns="0" bIns="0" anchor="ctr"/>
          <a:lstStyle/>
          <a:p>
            <a:pPr algn="l">
              <a:spcBef>
                <a:spcPts val="0"/>
              </a:spcBef>
              <a:spcAft>
                <a:spcPts val="0"/>
              </a:spcAft>
            </a:pPr>
            <a:r>
              <a:rPr sz="1100" b="0" i="0">
                <a:solidFill>
                  <a:srgbClr val="52514E"/>
                </a:solidFill>
                <a:latin typeface="Calibri"/>
              </a:rPr>
              <a:t>exposed as EstimatedState: x, y, ψ, v and their 4×4 covariance</a:t>
            </a:r>
          </a:p>
        </p:txBody>
      </p:sp>
      <p:sp>
        <p:nvSpPr>
          <p:cNvPr id="37" name="Rectangle 36"/>
          <p:cNvSpPr/>
          <p:nvPr/>
        </p:nvSpPr>
        <p:spPr>
          <a:xfrm>
            <a:off x="6309360" y="6108192"/>
            <a:ext cx="237744" cy="201168"/>
          </a:xfrm>
          <a:prstGeom prst="rect">
            <a:avLst/>
          </a:prstGeom>
          <a:solidFill>
            <a:srgbClr val="F1F0ED"/>
          </a:solidFill>
          <a:ln w="15875">
            <a:solidFill>
              <a:srgbClr val="52514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675120" y="6053328"/>
            <a:ext cx="5029200" cy="310896"/>
          </a:xfrm>
          <a:prstGeom prst="rect">
            <a:avLst/>
          </a:prstGeom>
          <a:noFill/>
        </p:spPr>
        <p:txBody>
          <a:bodyPr wrap="square" lIns="0" rIns="0" tIns="0" bIns="0" anchor="ctr"/>
          <a:lstStyle/>
          <a:p>
            <a:pPr algn="l">
              <a:spcBef>
                <a:spcPts val="0"/>
              </a:spcBef>
              <a:spcAft>
                <a:spcPts val="0"/>
              </a:spcAft>
            </a:pPr>
            <a:r>
              <a:rPr sz="1100" b="0" i="0">
                <a:solidFill>
                  <a:srgbClr val="52514E"/>
                </a:solidFill>
                <a:latin typeface="Calibri"/>
              </a:rPr>
              <a:t>internal: separate gyro bias and wheel error from the rest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itle 1"/>
          <p:cNvSpPr>
            <a:spLocks noGrp="1"/>
          </p:cNvSpPr>
          <p:nvPr>
            <p:ph type="title"/>
          </p:nvPr>
        </p:nvSpPr>
        <p:spPr>
          <a:xfrm>
            <a:off x="548640" y="320040"/>
            <a:ext cx="11064240" cy="685800"/>
          </a:xfrm>
        </p:spPr>
        <p:txBody>
          <a:bodyPr wrap="square" lIns="0" rIns="0" tIns="0" bIns="0" anchor="ctr"/>
          <a:lstStyle/>
          <a:p>
            <a:pPr algn="l">
              <a:spcBef>
                <a:spcPts val="0"/>
              </a:spcBef>
              <a:spcAft>
                <a:spcPts val="0"/>
              </a:spcAft>
            </a:pPr>
            <a:r>
              <a:rPr sz="2600" b="1" i="0">
                <a:solidFill>
                  <a:srgbClr val="0B0B0B"/>
                </a:solidFill>
                <a:latin typeface="Calibri"/>
              </a:rPr>
              <a:t>The odometry scale k is learned while the car accelerates</a:t>
            </a:r>
          </a:p>
        </p:txBody>
      </p:sp>
      <p:sp>
        <p:nvSpPr>
          <p:cNvPr id="3" name="TextBox 2"/>
          <p:cNvSpPr txBox="1"/>
          <p:nvPr/>
        </p:nvSpPr>
        <p:spPr>
          <a:xfrm>
            <a:off x="548640" y="987552"/>
            <a:ext cx="11064240" cy="365760"/>
          </a:xfrm>
          <a:prstGeom prst="rect">
            <a:avLst/>
          </a:prstGeom>
          <a:noFill/>
        </p:spPr>
        <p:txBody>
          <a:bodyPr wrap="square" lIns="0" rIns="0" tIns="0" bIns="0" anchor="t"/>
          <a:lstStyle/>
          <a:p>
            <a:pPr algn="l">
              <a:spcBef>
                <a:spcPts val="0"/>
              </a:spcBef>
              <a:spcAft>
                <a:spcPts val="0"/>
              </a:spcAft>
            </a:pPr>
            <a:r>
              <a:rPr sz="1400" b="0" i="0">
                <a:solidFill>
                  <a:srgbClr val="52514E"/>
                </a:solidFill>
                <a:latin typeface="Calibri"/>
              </a:rPr>
              <a:t>k = wheel speed computed from ticks ÷ true speed (1 = nominal 0.30 m wheels)</a:t>
            </a:r>
          </a:p>
        </p:txBody>
      </p:sp>
      <p:sp>
        <p:nvSpPr>
          <p:cNvPr id="4" name="TextBox 3"/>
          <p:cNvSpPr txBox="1"/>
          <p:nvPr/>
        </p:nvSpPr>
        <p:spPr>
          <a:xfrm>
            <a:off x="548640" y="1554480"/>
            <a:ext cx="5303520" cy="274320"/>
          </a:xfrm>
          <a:prstGeom prst="rect">
            <a:avLst/>
          </a:prstGeom>
          <a:noFill/>
        </p:spPr>
        <p:txBody>
          <a:bodyPr wrap="square" lIns="0" rIns="0" tIns="0" bIns="0" anchor="t"/>
          <a:lstStyle/>
          <a:p>
            <a:pPr algn="l">
              <a:spcBef>
                <a:spcPts val="0"/>
              </a:spcBef>
              <a:spcAft>
                <a:spcPts val="0"/>
              </a:spcAft>
            </a:pPr>
            <a:r>
              <a:rPr sz="1300" b="1" i="0">
                <a:solidFill>
                  <a:srgbClr val="0B0B0B"/>
                </a:solidFill>
                <a:latin typeface="Calibri"/>
              </a:rPr>
              <a:t>What it is</a:t>
            </a:r>
          </a:p>
        </p:txBody>
      </p:sp>
      <p:sp>
        <p:nvSpPr>
          <p:cNvPr id="5" name="TextBox 4"/>
          <p:cNvSpPr txBox="1"/>
          <p:nvPr/>
        </p:nvSpPr>
        <p:spPr>
          <a:xfrm>
            <a:off x="548640" y="1847088"/>
            <a:ext cx="5303520" cy="1051560"/>
          </a:xfrm>
          <a:prstGeom prst="rect">
            <a:avLst/>
          </a:prstGeom>
          <a:noFill/>
        </p:spPr>
        <p:txBody>
          <a:bodyPr wrap="square" lIns="0" rIns="0" tIns="0" bIns="0" anchor="t"/>
          <a:lstStyle/>
          <a:p>
            <a:pPr algn="l">
              <a:spcBef>
                <a:spcPts val="0"/>
              </a:spcBef>
              <a:spcAft>
                <a:spcPts val="300"/>
              </a:spcAft>
            </a:pPr>
            <a:r>
              <a:rPr sz="1200" b="0" i="0">
                <a:solidFill>
                  <a:srgbClr val="0B0B0B"/>
                </a:solidFill>
                <a:latin typeface="Calibri"/>
              </a:rPr>
              <a:t>Real wheels differ from the nominal 0.30 m radius, so the ticks give a wrong speed. 3% bigger wheels give 3% fewer ticks per meter: k ≈ 0.97.</a:t>
            </a:r>
          </a:p>
          <a:p>
            <a:pPr algn="l">
              <a:spcBef>
                <a:spcPts val="0"/>
              </a:spcBef>
              <a:spcAft>
                <a:spcPts val="0"/>
              </a:spcAft>
            </a:pPr>
            <a:r>
              <a:rPr sz="1200" b="0" i="0">
                <a:solidFill>
                  <a:srgbClr val="0B0B0B"/>
                </a:solidFill>
                <a:latin typeface="Calibri"/>
              </a:rPr>
              <a:t>k is constant during a run, but the ECU does not know it.</a:t>
            </a:r>
          </a:p>
        </p:txBody>
      </p:sp>
      <p:sp>
        <p:nvSpPr>
          <p:cNvPr id="6" name="TextBox 5"/>
          <p:cNvSpPr txBox="1"/>
          <p:nvPr/>
        </p:nvSpPr>
        <p:spPr>
          <a:xfrm>
            <a:off x="548640" y="2926080"/>
            <a:ext cx="5303520" cy="274320"/>
          </a:xfrm>
          <a:prstGeom prst="rect">
            <a:avLst/>
          </a:prstGeom>
          <a:noFill/>
        </p:spPr>
        <p:txBody>
          <a:bodyPr wrap="square" lIns="0" rIns="0" tIns="0" bIns="0" anchor="t"/>
          <a:lstStyle/>
          <a:p>
            <a:pPr algn="l">
              <a:spcBef>
                <a:spcPts val="0"/>
              </a:spcBef>
              <a:spcAft>
                <a:spcPts val="0"/>
              </a:spcAft>
            </a:pPr>
            <a:r>
              <a:rPr sz="1300" b="1" i="0">
                <a:solidFill>
                  <a:srgbClr val="0B0B0B"/>
                </a:solidFill>
                <a:latin typeface="Calibri"/>
              </a:rPr>
              <a:t>Why it matters</a:t>
            </a:r>
          </a:p>
        </p:txBody>
      </p:sp>
      <p:sp>
        <p:nvSpPr>
          <p:cNvPr id="7" name="TextBox 6"/>
          <p:cNvSpPr txBox="1"/>
          <p:nvPr/>
        </p:nvSpPr>
        <p:spPr>
          <a:xfrm>
            <a:off x="548640" y="3218688"/>
            <a:ext cx="5303520" cy="1234440"/>
          </a:xfrm>
          <a:prstGeom prst="rect">
            <a:avLst/>
          </a:prstGeom>
          <a:noFill/>
        </p:spPr>
        <p:txBody>
          <a:bodyPr wrap="square" lIns="0" rIns="0" tIns="0" bIns="0" anchor="t"/>
          <a:lstStyle/>
          <a:p>
            <a:pPr algn="l">
              <a:spcBef>
                <a:spcPts val="0"/>
              </a:spcBef>
              <a:spcAft>
                <a:spcPts val="300"/>
              </a:spcAft>
            </a:pPr>
            <a:r>
              <a:rPr sz="1200" b="0" i="0">
                <a:solidFill>
                  <a:srgbClr val="0B0B0B"/>
                </a:solidFill>
                <a:latin typeface="Calibri"/>
              </a:rPr>
              <a:t>• 1% error in k is 1% of the distance driven.</a:t>
            </a:r>
          </a:p>
          <a:p>
            <a:pPr algn="l">
              <a:spcBef>
                <a:spcPts val="0"/>
              </a:spcBef>
              <a:spcAft>
                <a:spcPts val="0"/>
              </a:spcAft>
            </a:pPr>
            <a:r>
              <a:rPr sz="1200" b="0" i="0">
                <a:solidFill>
                  <a:srgbClr val="0B0B0B"/>
                </a:solidFill>
                <a:latin typeface="Calibri"/>
              </a:rPr>
              <a:t>• In a turn it looks like gyro bias: 0.02 m/s of speed error is about 0.002 rad/s of apparent bias, the size of a typical one. Without k the EKF blamed the gyro.</a:t>
            </a:r>
          </a:p>
        </p:txBody>
      </p:sp>
      <p:sp>
        <p:nvSpPr>
          <p:cNvPr id="8" name="TextBox 7"/>
          <p:cNvSpPr txBox="1"/>
          <p:nvPr/>
        </p:nvSpPr>
        <p:spPr>
          <a:xfrm>
            <a:off x="548640" y="4434840"/>
            <a:ext cx="5303520" cy="274320"/>
          </a:xfrm>
          <a:prstGeom prst="rect">
            <a:avLst/>
          </a:prstGeom>
          <a:noFill/>
        </p:spPr>
        <p:txBody>
          <a:bodyPr wrap="square" lIns="0" rIns="0" tIns="0" bIns="0" anchor="t"/>
          <a:lstStyle/>
          <a:p>
            <a:pPr algn="l">
              <a:spcBef>
                <a:spcPts val="0"/>
              </a:spcBef>
              <a:spcAft>
                <a:spcPts val="0"/>
              </a:spcAft>
            </a:pPr>
            <a:r>
              <a:rPr sz="1300" b="1" i="0">
                <a:solidFill>
                  <a:srgbClr val="0B0B0B"/>
                </a:solidFill>
                <a:latin typeface="Calibri"/>
              </a:rPr>
              <a:t>How it is estimated</a:t>
            </a:r>
          </a:p>
        </p:txBody>
      </p:sp>
      <p:sp>
        <p:nvSpPr>
          <p:cNvPr id="9" name="TextBox 8"/>
          <p:cNvSpPr txBox="1"/>
          <p:nvPr/>
        </p:nvSpPr>
        <p:spPr>
          <a:xfrm>
            <a:off x="548640" y="4727448"/>
            <a:ext cx="5303520" cy="1828800"/>
          </a:xfrm>
          <a:prstGeom prst="rect">
            <a:avLst/>
          </a:prstGeom>
          <a:noFill/>
        </p:spPr>
        <p:txBody>
          <a:bodyPr wrap="square" lIns="0" rIns="0" tIns="0" bIns="0" anchor="t"/>
          <a:lstStyle/>
          <a:p>
            <a:pPr algn="l">
              <a:spcBef>
                <a:spcPts val="0"/>
              </a:spcBef>
              <a:spcAft>
                <a:spcPts val="200"/>
              </a:spcAft>
            </a:pPr>
            <a:r>
              <a:rPr sz="1200" b="0" i="0">
                <a:solidFill>
                  <a:srgbClr val="0B0B0B"/>
                </a:solidFill>
                <a:latin typeface="Calibri"/>
              </a:rPr>
              <a:t>1. Start parked: v = 0 is known.</a:t>
            </a:r>
          </a:p>
          <a:p>
            <a:pPr algn="l">
              <a:spcBef>
                <a:spcPts val="0"/>
              </a:spcBef>
              <a:spcAft>
                <a:spcPts val="200"/>
              </a:spcAft>
            </a:pPr>
            <a:r>
              <a:rPr sz="1200" b="0" i="0">
                <a:solidFill>
                  <a:srgbClr val="0B0B0B"/>
                </a:solidFill>
                <a:latin typeface="Calibri"/>
              </a:rPr>
              <a:t>2. While accelerating, integrate the accelerometer: v without using the wheels.</a:t>
            </a:r>
          </a:p>
          <a:p>
            <a:pPr algn="l">
              <a:spcBef>
                <a:spcPts val="0"/>
              </a:spcBef>
              <a:spcAft>
                <a:spcPts val="200"/>
              </a:spcAft>
            </a:pPr>
            <a:r>
              <a:rPr sz="1200" b="0" i="0">
                <a:solidFill>
                  <a:srgbClr val="0B0B0B"/>
                </a:solidFill>
                <a:latin typeface="Calibri"/>
              </a:rPr>
              <a:t>3. Compare with the wheel speed over 0.2 s: z = k·(v − ½·a·W).</a:t>
            </a:r>
          </a:p>
          <a:p>
            <a:pPr algn="l">
              <a:spcBef>
                <a:spcPts val="0"/>
              </a:spcBef>
              <a:spcAft>
                <a:spcPts val="600"/>
              </a:spcAft>
            </a:pPr>
            <a:r>
              <a:rPr sz="1200" b="0" i="0">
                <a:solidFill>
                  <a:srgbClr val="0B0B0B"/>
                </a:solidFill>
                <a:latin typeface="Calibri"/>
              </a:rPr>
              <a:t>4. The mismatch updates k.</a:t>
            </a:r>
          </a:p>
          <a:p>
            <a:pPr algn="l">
              <a:spcBef>
                <a:spcPts val="0"/>
              </a:spcBef>
              <a:spcAft>
                <a:spcPts val="0"/>
              </a:spcAft>
            </a:pPr>
            <a:r>
              <a:rPr sz="1200" b="0" i="1">
                <a:solidFill>
                  <a:srgbClr val="52514E"/>
                </a:solidFill>
                <a:latin typeface="Calibri"/>
              </a:rPr>
              <a:t>Limit: at constant speed only the product k·v is measured, so k cannot be learned there.</a:t>
            </a:r>
          </a:p>
        </p:txBody>
      </p:sp>
      <p:sp>
        <p:nvSpPr>
          <p:cNvPr id="10" name="TextBox 9"/>
          <p:cNvSpPr txBox="1"/>
          <p:nvPr/>
        </p:nvSpPr>
        <p:spPr>
          <a:xfrm>
            <a:off x="6263640" y="1554480"/>
            <a:ext cx="5394960" cy="274320"/>
          </a:xfrm>
          <a:prstGeom prst="rect">
            <a:avLst/>
          </a:prstGeom>
          <a:noFill/>
        </p:spPr>
        <p:txBody>
          <a:bodyPr wrap="square" lIns="0" rIns="0" tIns="0" bIns="0" anchor="t"/>
          <a:lstStyle/>
          <a:p>
            <a:pPr algn="l">
              <a:spcBef>
                <a:spcPts val="0"/>
              </a:spcBef>
              <a:spcAft>
                <a:spcPts val="0"/>
              </a:spcAft>
            </a:pPr>
            <a:r>
              <a:rPr sz="1300" b="1" i="0">
                <a:solidFill>
                  <a:srgbClr val="0B0B0B"/>
                </a:solidFill>
                <a:latin typeface="Calibri"/>
              </a:rPr>
              <a:t>Estimated k, six noise seeds</a:t>
            </a:r>
          </a:p>
        </p:txBody>
      </p:sp>
      <p:pic>
        <p:nvPicPr>
          <p:cNvPr id="11" name="Picture 10" descr="Line chart of the estimated odometry scale over 12 seconds. Six thin orange lines and their mean start at 1.0 and move toward the true value 0.970 (blue line) during the first 3 seconds of acceleration, then stay between 0.969 and 0.987."/>
          <p:cNvPicPr>
            <a:picLocks noChangeAspect="1"/>
          </p:cNvPicPr>
          <p:nvPr/>
        </p:nvPicPr>
        <p:blipFill>
          <a:blip r:embed="rId3"/>
          <a:stretch>
            <a:fillRect/>
          </a:stretch>
        </p:blipFill>
        <p:spPr>
          <a:xfrm>
            <a:off x="6263640" y="1874519"/>
            <a:ext cx="5394960" cy="3127248"/>
          </a:xfrm>
          <a:prstGeom prst="rect">
            <a:avLst/>
          </a:prstGeom>
        </p:spPr>
      </p:pic>
      <p:sp>
        <p:nvSpPr>
          <p:cNvPr id="12" name="TextBox 11"/>
          <p:cNvSpPr txBox="1"/>
          <p:nvPr/>
        </p:nvSpPr>
        <p:spPr>
          <a:xfrm>
            <a:off x="6263640" y="5029200"/>
            <a:ext cx="5394960" cy="566928"/>
          </a:xfrm>
          <a:prstGeom prst="rect">
            <a:avLst/>
          </a:prstGeom>
          <a:noFill/>
        </p:spPr>
        <p:txBody>
          <a:bodyPr wrap="square" lIns="0" rIns="0" tIns="0" bIns="0" anchor="t"/>
          <a:lstStyle/>
          <a:p>
            <a:pPr algn="l">
              <a:spcBef>
                <a:spcPts val="0"/>
              </a:spcBef>
              <a:spcAft>
                <a:spcPts val="0"/>
              </a:spcAft>
            </a:pPr>
            <a:r>
              <a:rPr sz="1050" b="0" i="0">
                <a:solidFill>
                  <a:srgbClr val="52514E"/>
                </a:solidFill>
                <a:latin typeface="Calibri"/>
              </a:rPr>
              <a:t>Synthetic drive: wheels 3% larger, 3 s acceleration to 2 m/s, then constant speed. After 12 s the six estimates lie between 0.969 and 0.987 (slightly more scatter than the filter's σ, which fell from 3.0% to 0.6%).</a:t>
            </a:r>
          </a:p>
        </p:txBody>
      </p:sp>
      <p:sp>
        <p:nvSpPr>
          <p:cNvPr id="13" name="Rectangle 12"/>
          <p:cNvSpPr/>
          <p:nvPr/>
        </p:nvSpPr>
        <p:spPr>
          <a:xfrm>
            <a:off x="6263640" y="5669280"/>
            <a:ext cx="2606040" cy="960120"/>
          </a:xfrm>
          <a:prstGeom prst="rect">
            <a:avLst/>
          </a:prstGeom>
          <a:solidFill>
            <a:srgbClr val="FFFFFF"/>
          </a:solidFill>
          <a:ln w="12700">
            <a:solidFill>
              <a:srgbClr val="E4E3DF"/>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spcBef>
                <a:spcPts val="0"/>
              </a:spcBef>
              <a:spcAft>
                <a:spcPts val="0"/>
              </a:spcAft>
            </a:pPr>
            <a:r>
              <a:rPr sz="2400" b="1" i="0">
                <a:solidFill>
                  <a:srgbClr val="0B0B0B"/>
                </a:solidFill>
                <a:latin typeface="Calibri"/>
              </a:rPr>
              <a:t>0.42×</a:t>
            </a:r>
          </a:p>
          <a:p>
            <a:pPr algn="l">
              <a:spcBef>
                <a:spcPts val="0"/>
              </a:spcBef>
              <a:spcAft>
                <a:spcPts val="0"/>
              </a:spcAft>
            </a:pPr>
            <a:r>
              <a:rPr sz="1000" b="0" i="0">
                <a:solidFill>
                  <a:srgbClr val="52514E"/>
                </a:solidFill>
                <a:latin typeface="Calibri"/>
              </a:rPr>
              <a:t>EKF position error vs dead reckoning, S1 circle, 6 seeds, default sensors</a:t>
            </a:r>
          </a:p>
        </p:txBody>
      </p:sp>
      <p:sp>
        <p:nvSpPr>
          <p:cNvPr id="14" name="Rectangle 13"/>
          <p:cNvSpPr/>
          <p:nvPr/>
        </p:nvSpPr>
        <p:spPr>
          <a:xfrm>
            <a:off x="9052560" y="5669280"/>
            <a:ext cx="2606040" cy="960120"/>
          </a:xfrm>
          <a:prstGeom prst="rect">
            <a:avLst/>
          </a:prstGeom>
          <a:solidFill>
            <a:srgbClr val="FFFFFF"/>
          </a:solidFill>
          <a:ln w="12700">
            <a:solidFill>
              <a:srgbClr val="E4E3DF"/>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spcBef>
                <a:spcPts val="0"/>
              </a:spcBef>
              <a:spcAft>
                <a:spcPts val="0"/>
              </a:spcAft>
            </a:pPr>
            <a:r>
              <a:rPr sz="2400" b="1" i="0">
                <a:solidFill>
                  <a:srgbClr val="0B0B0B"/>
                </a:solidFill>
                <a:latin typeface="Calibri"/>
              </a:rPr>
              <a:t>0.10×</a:t>
            </a:r>
          </a:p>
          <a:p>
            <a:pPr algn="l">
              <a:spcBef>
                <a:spcPts val="0"/>
              </a:spcBef>
              <a:spcAft>
                <a:spcPts val="0"/>
              </a:spcAft>
            </a:pPr>
            <a:r>
              <a:rPr sz="1000" b="0" i="0">
                <a:solidFill>
                  <a:srgbClr val="52514E"/>
                </a:solidFill>
                <a:latin typeface="Calibri"/>
              </a:rPr>
              <a:t>same, with 3% wheel error and 0.01 rad/s gyro bias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